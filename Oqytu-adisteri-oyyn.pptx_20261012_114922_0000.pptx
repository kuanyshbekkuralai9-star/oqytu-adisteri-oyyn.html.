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8288000" cy="10287000"/>
  <p:notesSz cx="6858000" cy="9144000"/>
  <p:embeddedFontLst>
    <p:embeddedFont>
      <p:font typeface="Cambria Bold" charset="1" panose="02040803050406030204"/>
      <p:regular r:id="rId51"/>
    </p:embeddedFont>
    <p:embeddedFont>
      <p:font typeface="Calibri (MS)" charset="1" panose="020F0502020204030204"/>
      <p:regular r:id="rId52"/>
    </p:embeddedFont>
    <p:embeddedFont>
      <p:font typeface="Calibri (MS) Bold" charset="1" panose="020F0702030404030204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notesMasters/notesMaster1.xml" Type="http://schemas.openxmlformats.org/officeDocument/2006/relationships/notesMaster"/><Relationship Id="rId49" Target="theme/theme2.xml" Type="http://schemas.openxmlformats.org/officeDocument/2006/relationships/theme"/><Relationship Id="rId5" Target="tableStyles.xml" Type="http://schemas.openxmlformats.org/officeDocument/2006/relationships/tableStyles"/><Relationship Id="rId50" Target="notesSlides/notesSlide1.xml" Type="http://schemas.openxmlformats.org/officeDocument/2006/relationships/notes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notesSlides/notesSlide2.xml" Type="http://schemas.openxmlformats.org/officeDocument/2006/relationships/notesSlide"/><Relationship Id="rId55" Target="notesSlides/notesSlide3.xml" Type="http://schemas.openxmlformats.org/officeDocument/2006/relationships/notesSlide"/><Relationship Id="rId56" Target="notesSlides/notesSlide4.xml" Type="http://schemas.openxmlformats.org/officeDocument/2006/relationships/notesSlide"/><Relationship Id="rId57" Target="notesSlides/notesSlide5.xml" Type="http://schemas.openxmlformats.org/officeDocument/2006/relationships/notesSlide"/><Relationship Id="rId58" Target="notesSlides/notesSlide6.xml" Type="http://schemas.openxmlformats.org/officeDocument/2006/relationships/notesSlide"/><Relationship Id="rId59" Target="notesSlides/notesSlide7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8.xml" Type="http://schemas.openxmlformats.org/officeDocument/2006/relationships/notesSlide"/><Relationship Id="rId61" Target="notesSlides/notesSlide9.xml" Type="http://schemas.openxmlformats.org/officeDocument/2006/relationships/notesSlide"/><Relationship Id="rId62" Target="notesSlides/notesSlide10.xml" Type="http://schemas.openxmlformats.org/officeDocument/2006/relationships/notesSlide"/><Relationship Id="rId63" Target="notesSlides/notesSlide11.xml" Type="http://schemas.openxmlformats.org/officeDocument/2006/relationships/notesSlide"/><Relationship Id="rId64" Target="notesSlides/notesSlide12.xml" Type="http://schemas.openxmlformats.org/officeDocument/2006/relationships/notesSlide"/><Relationship Id="rId65" Target="notesSlides/notesSlide13.xml" Type="http://schemas.openxmlformats.org/officeDocument/2006/relationships/notesSlide"/><Relationship Id="rId66" Target="notesSlides/notesSlide14.xml" Type="http://schemas.openxmlformats.org/officeDocument/2006/relationships/notesSlide"/><Relationship Id="rId67" Target="notesSlides/notesSlide15.xml" Type="http://schemas.openxmlformats.org/officeDocument/2006/relationships/notesSlide"/><Relationship Id="rId68" Target="notesSlides/notesSlide16.xml" Type="http://schemas.openxmlformats.org/officeDocument/2006/relationships/notesSlide"/><Relationship Id="rId69" Target="notesSlides/notesSlide17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18.xml" Type="http://schemas.openxmlformats.org/officeDocument/2006/relationships/notesSlide"/><Relationship Id="rId71" Target="notesSlides/notesSlide19.xml" Type="http://schemas.openxmlformats.org/officeDocument/2006/relationships/notesSlide"/><Relationship Id="rId72" Target="notesSlides/notesSlide20.xml" Type="http://schemas.openxmlformats.org/officeDocument/2006/relationships/notesSlide"/><Relationship Id="rId73" Target="notesSlides/notesSlide21.xml" Type="http://schemas.openxmlformats.org/officeDocument/2006/relationships/notesSlide"/><Relationship Id="rId74" Target="notesSlides/notesSlide22.xml" Type="http://schemas.openxmlformats.org/officeDocument/2006/relationships/notesSlide"/><Relationship Id="rId75" Target="notesSlides/notesSlide23.xml" Type="http://schemas.openxmlformats.org/officeDocument/2006/relationships/notesSlide"/><Relationship Id="rId76" Target="notesSlides/notesSlide24.xml" Type="http://schemas.openxmlformats.org/officeDocument/2006/relationships/notesSlide"/><Relationship Id="rId77" Target="notesSlides/notesSlide25.xml" Type="http://schemas.openxmlformats.org/officeDocument/2006/relationships/notesSlide"/><Relationship Id="rId78" Target="notesSlides/notesSlide26.xml" Type="http://schemas.openxmlformats.org/officeDocument/2006/relationships/notesSlide"/><Relationship Id="rId79" Target="notesSlides/notesSlide27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28.xml" Type="http://schemas.openxmlformats.org/officeDocument/2006/relationships/notesSlide"/><Relationship Id="rId81" Target="notesSlides/notesSlide29.xml" Type="http://schemas.openxmlformats.org/officeDocument/2006/relationships/notesSlide"/><Relationship Id="rId82" Target="notesSlides/notesSlide30.xml" Type="http://schemas.openxmlformats.org/officeDocument/2006/relationships/notesSlide"/><Relationship Id="rId83" Target="notesSlides/notesSlide31.xml" Type="http://schemas.openxmlformats.org/officeDocument/2006/relationships/notesSlide"/><Relationship Id="rId84" Target="notesSlides/notesSlide32.xml" Type="http://schemas.openxmlformats.org/officeDocument/2006/relationships/notesSlide"/><Relationship Id="rId85" Target="notesSlides/notesSlide33.xml" Type="http://schemas.openxmlformats.org/officeDocument/2006/relationships/notesSlide"/><Relationship Id="rId86" Target="notesSlides/notesSlide34.xml" Type="http://schemas.openxmlformats.org/officeDocument/2006/relationships/notesSlide"/><Relationship Id="rId87" Target="notesSlides/notesSlide35.xml" Type="http://schemas.openxmlformats.org/officeDocument/2006/relationships/notesSlide"/><Relationship Id="rId88" Target="notesSlides/notesSlide36.xml" Type="http://schemas.openxmlformats.org/officeDocument/2006/relationships/notesSlide"/><Relationship Id="rId89" Target="notesSlides/notesSlide37.xml" Type="http://schemas.openxmlformats.org/officeDocument/2006/relationships/notesSlide"/><Relationship Id="rId9" Target="slides/slide4.xml" Type="http://schemas.openxmlformats.org/officeDocument/2006/relationships/slide"/><Relationship Id="rId90" Target="notesSlides/notesSlide38.xml" Type="http://schemas.openxmlformats.org/officeDocument/2006/relationships/notesSlide"/><Relationship Id="rId91" Target="notesSlides/notesSlide39.xml" Type="http://schemas.openxmlformats.org/officeDocument/2006/relationships/notesSlide"/><Relationship Id="rId92" Target="notesSlides/notesSlide40.xml" Type="http://schemas.openxmlformats.org/officeDocument/2006/relationships/notesSlide"/><Relationship Id="rId93" Target="notesSlides/notesSlide41.xml" Type="http://schemas.openxmlformats.org/officeDocument/2006/relationships/notesSlide"/><Relationship Id="rId94" Target="notesSlides/notesSlide42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4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Слайд-шоуды F5 арқылы іске қосыңыз. Барлық батырмалар слайдтар арасында өтеді.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Сарғыш торды немесе «Сұрақты ашу» батырмасын басыңыз.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Дұрыс жауап: B. Оқыту мақсатына жету үшін мұғалім мен оқушының өзара байланысты қызмет тәсілдерінің жүйесі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Сарғыш торды немесе «Сұрақты ашу» батырмасын басыңыз.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Дұрыс жауап: D. Сөздік, көрнекілік, практикалық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Сарғыш торды немесе «Сұрақты ашу» батырмасын басыңыз.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Дұрыс жауап: A. Лабораториялық жұмыс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Сарғыш торды немесе «Сұрақты ашу» батырмасын басыңыз.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Дұрыс жауап: C. Мұғалім проблема қойып, оны шешу логикасын өзі көрсетеді, ойлау үлгісін таныстырады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Сарғыш торды немесе «Сұрақты ашу» батырмасын басыңыз.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Дұрыс жауап: D. Иллюстрация және демонстрация</a:t>
            </a:r>
          </a:p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Сарғыш торды немесе «Сұрақты ашу» батырмасын басыңыз.</a:t>
            </a:r>
          </a:p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Дұрыс жауап: B. Ұйымдастыру-әрекеттік, ынталандыру-уәждеу, бақылау-бағалау</a:t>
            </a:r>
          </a:p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Сарғыш торды немесе «Сұрақты ашу» батырмасын басыңыз.</a:t>
            </a:r>
          </a:p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Дұрыс жауап: A. Кейс-стади (нақты жағдайды топта талдау)</a:t>
            </a:r>
          </a:p>
          <a:p>
            <a:r>
              <a:rPr lang="en-US"/>
              <a:t>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Сарғыш торды немесе «Сұрақты ашу» батырмасын басыңыз.</a:t>
            </a:r>
          </a:p>
          <a:p>
            <a:r>
              <a:rPr lang="en-US"/>
              <a:t>30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Дұрыс жауап: C. Жеке фактілерден жалпы қорытынды мен ережеге көшу</a:t>
            </a:r>
          </a:p>
          <a:p>
            <a:r>
              <a:rPr lang="en-US"/>
              <a:t>31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Сарғыш торды немесе «Сұрақты ашу» батырмасын басыңыз.</a:t>
            </a:r>
          </a:p>
          <a:p>
            <a:r>
              <a:rPr lang="en-US"/>
              <a:t>34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Дұрыс жауап: B. Тәсіл — әдістің құрамдас бөлігі, оның жеке қадамы</a:t>
            </a:r>
          </a:p>
          <a:p>
            <a:r>
              <a:rPr lang="en-US"/>
              <a:t>35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Сарғыш торды немесе «Сұрақты ашу» батырмасын басыңыз.</a:t>
            </a:r>
          </a:p>
          <a:p>
            <a:r>
              <a:rPr lang="en-US"/>
              <a:t>38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Дұрыс жауап: D. Интерактивті (ынтымақтастықта оқыту) әдістеріне</a:t>
            </a:r>
          </a:p>
          <a:p>
            <a:r>
              <a:rPr lang="en-US"/>
              <a:t>39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Салют анимациясы слайд-шоу режимінде қозғалады. Дауыс үшін динамик белгішесін басыңыз.</a:t>
            </a:r>
          </a:p>
          <a:p>
            <a:r>
              <a:rPr lang="en-US"/>
              <a:t>42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6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6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6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6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6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6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6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3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6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7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8.xml" Type="http://schemas.openxmlformats.org/officeDocument/2006/relationships/notesSlide"/><Relationship Id="rId3" Target="../media/image6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3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9.xml" Type="http://schemas.openxmlformats.org/officeDocument/2006/relationships/notesSlid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0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1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2.xml" Type="http://schemas.openxmlformats.org/officeDocument/2006/relationships/notesSlide"/><Relationship Id="rId3" Target="../media/image1.png" Type="http://schemas.openxmlformats.org/officeDocument/2006/relationships/image"/><Relationship Id="rId4" Target="../media/image9.jpeg" Type="http://schemas.openxmlformats.org/officeDocument/2006/relationships/image"/><Relationship Id="rId5" Target="../media/VAHXxq9BZhc.mp4" Type="http://schemas.openxmlformats.org/officeDocument/2006/relationships/video"/><Relationship Id="rId6" Target="../media/VAHXxq9BZhc.mp4" Type="http://schemas.microsoft.com/office/2007/relationships/media"/><Relationship Id="rId7" Target="../media/image10.png" Type="http://schemas.openxmlformats.org/officeDocument/2006/relationships/image"/><Relationship Id="rId8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960120"/>
            <a:ext cx="1783080" cy="1837944"/>
            <a:chOff x="0" y="0"/>
            <a:chExt cx="2377440" cy="2450592"/>
          </a:xfrm>
        </p:grpSpPr>
        <p:sp>
          <p:nvSpPr>
            <p:cNvPr name="Freeform 4" id="4" descr="Елес"/>
            <p:cNvSpPr/>
            <p:nvPr/>
          </p:nvSpPr>
          <p:spPr>
            <a:xfrm flipH="false" flipV="false" rot="0">
              <a:off x="0" y="0"/>
              <a:ext cx="2377440" cy="2450592"/>
            </a:xfrm>
            <a:custGeom>
              <a:avLst/>
              <a:gdLst/>
              <a:ahLst/>
              <a:cxnLst/>
              <a:rect r="r" b="b" t="t" l="l"/>
              <a:pathLst>
                <a:path h="2450592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450592"/>
                  </a:lnTo>
                  <a:lnTo>
                    <a:pt x="0" y="245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56" t="0" r="-2356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0" y="754380"/>
            <a:ext cx="1783080" cy="1824228"/>
            <a:chOff x="0" y="0"/>
            <a:chExt cx="2377440" cy="2432304"/>
          </a:xfrm>
        </p:grpSpPr>
        <p:sp>
          <p:nvSpPr>
            <p:cNvPr name="Freeform 6" id="6" descr="Сиқыршы"/>
            <p:cNvSpPr/>
            <p:nvPr/>
          </p:nvSpPr>
          <p:spPr>
            <a:xfrm flipH="false" flipV="false" rot="0">
              <a:off x="0" y="0"/>
              <a:ext cx="2377440" cy="2432304"/>
            </a:xfrm>
            <a:custGeom>
              <a:avLst/>
              <a:gdLst/>
              <a:ahLst/>
              <a:cxnLst/>
              <a:rect r="r" b="b" t="t" l="l"/>
              <a:pathLst>
                <a:path h="24323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432304"/>
                  </a:lnTo>
                  <a:lnTo>
                    <a:pt x="0" y="243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4" r="0" b="-10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087600" y="960120"/>
            <a:ext cx="1783080" cy="1645920"/>
            <a:chOff x="0" y="0"/>
            <a:chExt cx="2377440" cy="2194560"/>
          </a:xfrm>
        </p:grpSpPr>
        <p:sp>
          <p:nvSpPr>
            <p:cNvPr name="Freeform 8" id="8" descr="Асқабақ"/>
            <p:cNvSpPr/>
            <p:nvPr/>
          </p:nvSpPr>
          <p:spPr>
            <a:xfrm flipH="false" flipV="false" rot="0">
              <a:off x="0" y="0"/>
              <a:ext cx="2377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02" r="0" b="-150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71600" y="3017520"/>
            <a:ext cx="15540228" cy="2194560"/>
            <a:chOff x="0" y="0"/>
            <a:chExt cx="20720304" cy="2926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03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7978" r="0" b="-879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720304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Оқыту әдістері: Түнгі жорық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1600" y="5280660"/>
            <a:ext cx="15540228" cy="822960"/>
            <a:chOff x="0" y="0"/>
            <a:chExt cx="20720304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203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7942" r="0" b="-31794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0720304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FB34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Оқыту әдістері және оларды жіктеу · 10 сұрақ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17520" y="6240780"/>
            <a:ext cx="12207240" cy="1371600"/>
            <a:chOff x="0" y="0"/>
            <a:chExt cx="1627632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276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3416" r="0" b="-12341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627632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Әр торда бір сұрақ: жауапты басыңыз, сиқыршы алға жүреді. Финишке жеткенде салют болады! Слайд-шоу режимінде (F5) ашыңыз.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76797" y="8063865"/>
            <a:ext cx="5543550" cy="1360170"/>
            <a:chOff x="0" y="0"/>
            <a:chExt cx="7391400" cy="1813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91400" cy="1813560"/>
            </a:xfrm>
            <a:custGeom>
              <a:avLst/>
              <a:gdLst/>
              <a:ahLst/>
              <a:cxnLst/>
              <a:rect r="r" b="b" t="t" l="l"/>
              <a:pathLst>
                <a:path h="1813560" w="7391400">
                  <a:moveTo>
                    <a:pt x="0" y="477266"/>
                  </a:moveTo>
                  <a:cubicBezTo>
                    <a:pt x="0" y="213614"/>
                    <a:pt x="213614" y="0"/>
                    <a:pt x="477266" y="0"/>
                  </a:cubicBezTo>
                  <a:lnTo>
                    <a:pt x="6914134" y="0"/>
                  </a:lnTo>
                  <a:cubicBezTo>
                    <a:pt x="7177786" y="0"/>
                    <a:pt x="7391400" y="213614"/>
                    <a:pt x="7391400" y="477266"/>
                  </a:cubicBezTo>
                  <a:lnTo>
                    <a:pt x="7391400" y="1336294"/>
                  </a:lnTo>
                  <a:cubicBezTo>
                    <a:pt x="7391400" y="1599819"/>
                    <a:pt x="7177786" y="1813560"/>
                    <a:pt x="6914134" y="1813560"/>
                  </a:cubicBezTo>
                  <a:lnTo>
                    <a:pt x="477266" y="1813560"/>
                  </a:lnTo>
                  <a:cubicBezTo>
                    <a:pt x="213614" y="1813560"/>
                    <a:pt x="0" y="1599946"/>
                    <a:pt x="0" y="1336294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7391400" cy="1908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Ойынды бастау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1480" y="192024"/>
            <a:ext cx="795528" cy="740664"/>
            <a:chOff x="0" y="0"/>
            <a:chExt cx="1060704" cy="987552"/>
          </a:xfrm>
        </p:grpSpPr>
        <p:sp>
          <p:nvSpPr>
            <p:cNvPr name="Freeform 4" id="4" descr="Асқабақ"/>
            <p:cNvSpPr/>
            <p:nvPr/>
          </p:nvSpPr>
          <p:spPr>
            <a:xfrm flipH="false" flipV="false" rot="0">
              <a:off x="0" y="0"/>
              <a:ext cx="1060704" cy="987552"/>
            </a:xfrm>
            <a:custGeom>
              <a:avLst/>
              <a:gdLst/>
              <a:ahLst/>
              <a:cxnLst/>
              <a:rect r="r" b="b" t="t" l="l"/>
              <a:pathLst>
                <a:path h="987552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2" r="0" b="-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92024"/>
            <a:ext cx="8229600" cy="754380"/>
            <a:chOff x="0" y="0"/>
            <a:chExt cx="1097280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0972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Оқыту әдістері: Түнгі жорық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0" y="219456"/>
            <a:ext cx="3977640" cy="685800"/>
            <a:chOff x="0" y="0"/>
            <a:chExt cx="530352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3035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960"/>
                </a:lnSpc>
              </a:pPr>
              <a:r>
                <a:rPr lang="en-US" sz="33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1 / 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61745" y="163449"/>
            <a:ext cx="3897630" cy="825246"/>
            <a:chOff x="0" y="0"/>
            <a:chExt cx="5196840" cy="1100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96840" cy="1100328"/>
            </a:xfrm>
            <a:custGeom>
              <a:avLst/>
              <a:gdLst/>
              <a:ahLst/>
              <a:cxnLst/>
              <a:rect r="r" b="b" t="t" l="l"/>
              <a:pathLst>
                <a:path h="1100328" w="5196840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705604" y="0"/>
                  </a:lnTo>
                  <a:cubicBezTo>
                    <a:pt x="4976876" y="0"/>
                    <a:pt x="5196840" y="219964"/>
                    <a:pt x="5196840" y="491236"/>
                  </a:cubicBezTo>
                  <a:lnTo>
                    <a:pt x="5196840" y="609092"/>
                  </a:lnTo>
                  <a:cubicBezTo>
                    <a:pt x="5196840" y="880364"/>
                    <a:pt x="4976876" y="1100328"/>
                    <a:pt x="4705604" y="1100328"/>
                  </a:cubicBezTo>
                  <a:lnTo>
                    <a:pt x="491236" y="1100328"/>
                  </a:lnTo>
                  <a:cubicBezTo>
                    <a:pt x="219964" y="1100328"/>
                    <a:pt x="0" y="880364"/>
                    <a:pt x="0" y="609092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196840" cy="116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Сұрақты ашу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51536" y="8114290"/>
            <a:ext cx="1192530" cy="1192530"/>
            <a:chOff x="0" y="0"/>
            <a:chExt cx="1590040" cy="1590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90040" cy="1590040"/>
            </a:xfrm>
            <a:custGeom>
              <a:avLst/>
              <a:gdLst/>
              <a:ahLst/>
              <a:cxnLst/>
              <a:rect r="r" b="b" t="t" l="l"/>
              <a:pathLst>
                <a:path h="1590040" w="1590040">
                  <a:moveTo>
                    <a:pt x="0" y="278257"/>
                  </a:moveTo>
                  <a:cubicBezTo>
                    <a:pt x="0" y="124587"/>
                    <a:pt x="124587" y="0"/>
                    <a:pt x="278257" y="0"/>
                  </a:cubicBezTo>
                  <a:lnTo>
                    <a:pt x="1311783" y="0"/>
                  </a:lnTo>
                  <a:cubicBezTo>
                    <a:pt x="1465453" y="0"/>
                    <a:pt x="1590040" y="124587"/>
                    <a:pt x="1590040" y="278257"/>
                  </a:cubicBezTo>
                  <a:lnTo>
                    <a:pt x="1590040" y="1311783"/>
                  </a:lnTo>
                  <a:cubicBezTo>
                    <a:pt x="1590040" y="1465453"/>
                    <a:pt x="1465453" y="1590040"/>
                    <a:pt x="1311783" y="1590040"/>
                  </a:cubicBezTo>
                  <a:lnTo>
                    <a:pt x="278257" y="1590040"/>
                  </a:lnTo>
                  <a:cubicBezTo>
                    <a:pt x="124587" y="1590040"/>
                    <a:pt x="0" y="1465453"/>
                    <a:pt x="0" y="1311783"/>
                  </a:cubicBezTo>
                  <a:close/>
                </a:path>
              </a:pathLst>
            </a:custGeom>
            <a:solidFill>
              <a:srgbClr val="FFB347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590040" cy="167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53392" y="5352707"/>
            <a:ext cx="1154430" cy="1154430"/>
            <a:chOff x="0" y="0"/>
            <a:chExt cx="1539240" cy="1539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07585" y="3746935"/>
            <a:ext cx="1154430" cy="1154430"/>
            <a:chOff x="0" y="0"/>
            <a:chExt cx="1539240" cy="1539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36800" y="5100695"/>
            <a:ext cx="1154430" cy="1154430"/>
            <a:chOff x="0" y="0"/>
            <a:chExt cx="1539240" cy="1539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37000" y="7137940"/>
            <a:ext cx="1154430" cy="1154430"/>
            <a:chOff x="0" y="0"/>
            <a:chExt cx="1539240" cy="1539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19867" y="5706599"/>
            <a:ext cx="1154430" cy="1154430"/>
            <a:chOff x="0" y="0"/>
            <a:chExt cx="1539240" cy="1539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94872" y="2891514"/>
            <a:ext cx="1154430" cy="1154430"/>
            <a:chOff x="0" y="0"/>
            <a:chExt cx="1539240" cy="1539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87571" y="2456831"/>
            <a:ext cx="1154430" cy="1154430"/>
            <a:chOff x="0" y="0"/>
            <a:chExt cx="1539240" cy="1539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905328" y="5122545"/>
            <a:ext cx="1154430" cy="1154430"/>
            <a:chOff x="0" y="0"/>
            <a:chExt cx="1539240" cy="1539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08849" y="7818511"/>
            <a:ext cx="1154430" cy="1154430"/>
            <a:chOff x="0" y="0"/>
            <a:chExt cx="1539240" cy="1539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4841" y="9327775"/>
            <a:ext cx="1645920" cy="480060"/>
            <a:chOff x="0" y="0"/>
            <a:chExt cx="219456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945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Старт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130581" y="6858895"/>
            <a:ext cx="1207008" cy="1234440"/>
            <a:chOff x="0" y="0"/>
            <a:chExt cx="1609344" cy="1645920"/>
          </a:xfrm>
        </p:grpSpPr>
        <p:sp>
          <p:nvSpPr>
            <p:cNvPr name="Freeform 48" id="48" descr="Сиқыршы осы жерде"/>
            <p:cNvSpPr/>
            <p:nvPr/>
          </p:nvSpPr>
          <p:spPr>
            <a:xfrm flipH="false" flipV="false" rot="0">
              <a:off x="0" y="0"/>
              <a:ext cx="160934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1" r="0" b="-12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411480"/>
            <a:ext cx="4800600" cy="617220"/>
            <a:chOff x="0" y="0"/>
            <a:chExt cx="6400800" cy="822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0800" cy="822960"/>
            </a:xfrm>
            <a:custGeom>
              <a:avLst/>
              <a:gdLst/>
              <a:ahLst/>
              <a:cxnLst/>
              <a:rect r="r" b="b" t="t" l="l"/>
              <a:pathLst>
                <a:path h="8229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400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1 / 10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0" y="342900"/>
            <a:ext cx="960120" cy="987552"/>
            <a:chOff x="0" y="0"/>
            <a:chExt cx="1280160" cy="1316736"/>
          </a:xfrm>
        </p:grpSpPr>
        <p:sp>
          <p:nvSpPr>
            <p:cNvPr name="Freeform 7" id="7" descr="Елес"/>
            <p:cNvSpPr/>
            <p:nvPr/>
          </p:nvSpPr>
          <p:spPr>
            <a:xfrm flipH="false" flipV="false" rot="0">
              <a:off x="0" y="0"/>
              <a:ext cx="12801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45" t="0" r="-224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1165860"/>
            <a:ext cx="15361920" cy="2331720"/>
            <a:chOff x="0" y="0"/>
            <a:chExt cx="20482560" cy="310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3108960"/>
            </a:xfrm>
            <a:custGeom>
              <a:avLst/>
              <a:gdLst/>
              <a:ahLst/>
              <a:cxnLst/>
              <a:rect r="r" b="b" t="t" l="l"/>
              <a:pathLst>
                <a:path h="3108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372" r="0" b="-78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0" cy="3118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Дидактикада «оқыту әдісі» ұғымы нені білдіреді?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4385" y="3743325"/>
            <a:ext cx="8218170" cy="2251710"/>
            <a:chOff x="0" y="0"/>
            <a:chExt cx="10957560" cy="3002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Оқу пәнінің мазмұнын құрайтын білім көлемі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70873" y="3743325"/>
            <a:ext cx="8218170" cy="2251710"/>
            <a:chOff x="0" y="0"/>
            <a:chExt cx="10957560" cy="3002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Оқыту мақсатына жету үшін мұғалім мен оқушының өзара байланысты қызмет тәсілдерінің жүйесі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4385" y="6349365"/>
            <a:ext cx="8218170" cy="2251710"/>
            <a:chOff x="0" y="0"/>
            <a:chExt cx="10957560" cy="3002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Оқу-тәрбие процесін ұйымдастырудың сыртқы түрі (сабақ, экскурсия)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70873" y="6349365"/>
            <a:ext cx="8218170" cy="2251710"/>
            <a:chOff x="0" y="0"/>
            <a:chExt cx="10957560" cy="3002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Оқушылардың жетістігін бағалау өлшемдерінің жиынтығы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121140"/>
            <a:ext cx="8229600" cy="548640"/>
            <a:chOff x="0" y="0"/>
            <a:chExt cx="10972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1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Дұрыс жауапты басыңыз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Дұрыс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86EFA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Дұрыс!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545" y="2988945"/>
            <a:ext cx="16420338" cy="3760470"/>
            <a:chOff x="0" y="0"/>
            <a:chExt cx="21893784" cy="501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93785" cy="5013960"/>
            </a:xfrm>
            <a:custGeom>
              <a:avLst/>
              <a:gdLst/>
              <a:ahLst/>
              <a:cxnLst/>
              <a:rect r="r" b="b" t="t" l="l"/>
              <a:pathLst>
                <a:path h="5013960" w="21893785">
                  <a:moveTo>
                    <a:pt x="0" y="371348"/>
                  </a:moveTo>
                  <a:cubicBezTo>
                    <a:pt x="0" y="166243"/>
                    <a:pt x="166243" y="0"/>
                    <a:pt x="371348" y="0"/>
                  </a:cubicBezTo>
                  <a:lnTo>
                    <a:pt x="21522437" y="0"/>
                  </a:lnTo>
                  <a:cubicBezTo>
                    <a:pt x="21727542" y="0"/>
                    <a:pt x="21893785" y="166243"/>
                    <a:pt x="21893785" y="371348"/>
                  </a:cubicBezTo>
                  <a:lnTo>
                    <a:pt x="21893785" y="4642612"/>
                  </a:lnTo>
                  <a:cubicBezTo>
                    <a:pt x="21893785" y="4847717"/>
                    <a:pt x="21727542" y="5013960"/>
                    <a:pt x="21522437" y="5013960"/>
                  </a:cubicBezTo>
                  <a:lnTo>
                    <a:pt x="371348" y="5013960"/>
                  </a:lnTo>
                  <a:cubicBezTo>
                    <a:pt x="166243" y="5013960"/>
                    <a:pt x="0" y="4847717"/>
                    <a:pt x="0" y="4642612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93784" cy="508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Әдіс — мақсатқа жету жолы: онда мұғалімнің оқытуы мен оқушының оқуы өзара байланыста жүреді.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Қате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CA5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Қате жауап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1070" y="2655570"/>
            <a:ext cx="16401288" cy="1752600"/>
            <a:chOff x="0" y="0"/>
            <a:chExt cx="21868384" cy="233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68385" cy="2336800"/>
            </a:xfrm>
            <a:custGeom>
              <a:avLst/>
              <a:gdLst/>
              <a:ahLst/>
              <a:cxnLst/>
              <a:rect r="r" b="b" t="t" l="l"/>
              <a:pathLst>
                <a:path h="2336800" w="21868385">
                  <a:moveTo>
                    <a:pt x="0" y="373888"/>
                  </a:moveTo>
                  <a:cubicBezTo>
                    <a:pt x="0" y="167386"/>
                    <a:pt x="167386" y="0"/>
                    <a:pt x="373888" y="0"/>
                  </a:cubicBezTo>
                  <a:lnTo>
                    <a:pt x="21494496" y="0"/>
                  </a:lnTo>
                  <a:cubicBezTo>
                    <a:pt x="21700998" y="0"/>
                    <a:pt x="21868385" y="167386"/>
                    <a:pt x="21868385" y="373888"/>
                  </a:cubicBezTo>
                  <a:lnTo>
                    <a:pt x="21868385" y="1962912"/>
                  </a:lnTo>
                  <a:cubicBezTo>
                    <a:pt x="21868385" y="2169414"/>
                    <a:pt x="21700998" y="2336800"/>
                    <a:pt x="21494496" y="2336800"/>
                  </a:cubicBezTo>
                  <a:lnTo>
                    <a:pt x="373888" y="2336800"/>
                  </a:lnTo>
                  <a:cubicBezTo>
                    <a:pt x="167386" y="2336800"/>
                    <a:pt x="0" y="2169414"/>
                    <a:pt x="0" y="1962912"/>
                  </a:cubicBezTo>
                  <a:close/>
                </a:path>
              </a:pathLst>
            </a:custGeom>
            <a:solidFill>
              <a:srgbClr val="86EFA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68384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B0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Дұрыс жауап: B. Оқыту мақсатына жету үшін мұғалім мен оқушының өзара байланысты қызмет тәсілдерінің жүйесі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545" y="4772025"/>
            <a:ext cx="16420338" cy="3417570"/>
            <a:chOff x="0" y="0"/>
            <a:chExt cx="21893784" cy="4556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93785" cy="4556760"/>
            </a:xfrm>
            <a:custGeom>
              <a:avLst/>
              <a:gdLst/>
              <a:ahLst/>
              <a:cxnLst/>
              <a:rect r="r" b="b" t="t" l="l"/>
              <a:pathLst>
                <a:path h="4556760" w="21893785">
                  <a:moveTo>
                    <a:pt x="0" y="371983"/>
                  </a:moveTo>
                  <a:cubicBezTo>
                    <a:pt x="0" y="166497"/>
                    <a:pt x="166497" y="0"/>
                    <a:pt x="371983" y="0"/>
                  </a:cubicBezTo>
                  <a:lnTo>
                    <a:pt x="21521801" y="0"/>
                  </a:lnTo>
                  <a:cubicBezTo>
                    <a:pt x="21727288" y="0"/>
                    <a:pt x="21893785" y="166497"/>
                    <a:pt x="21893785" y="371983"/>
                  </a:cubicBezTo>
                  <a:lnTo>
                    <a:pt x="21893785" y="4184777"/>
                  </a:lnTo>
                  <a:cubicBezTo>
                    <a:pt x="21893785" y="4390263"/>
                    <a:pt x="21727288" y="4556760"/>
                    <a:pt x="21521801" y="4556760"/>
                  </a:cubicBezTo>
                  <a:lnTo>
                    <a:pt x="371983" y="4556760"/>
                  </a:lnTo>
                  <a:cubicBezTo>
                    <a:pt x="166497" y="4556760"/>
                    <a:pt x="0" y="4390263"/>
                    <a:pt x="0" y="4184777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893784" cy="4623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Әдіс — мақсатқа жету жолы: онда мұғалімнің оқытуы мен оқушының оқуы өзара байланыста жүреді.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1480" y="192024"/>
            <a:ext cx="795528" cy="740664"/>
            <a:chOff x="0" y="0"/>
            <a:chExt cx="1060704" cy="987552"/>
          </a:xfrm>
        </p:grpSpPr>
        <p:sp>
          <p:nvSpPr>
            <p:cNvPr name="Freeform 4" id="4" descr="Асқабақ"/>
            <p:cNvSpPr/>
            <p:nvPr/>
          </p:nvSpPr>
          <p:spPr>
            <a:xfrm flipH="false" flipV="false" rot="0">
              <a:off x="0" y="0"/>
              <a:ext cx="1060704" cy="987552"/>
            </a:xfrm>
            <a:custGeom>
              <a:avLst/>
              <a:gdLst/>
              <a:ahLst/>
              <a:cxnLst/>
              <a:rect r="r" b="b" t="t" l="l"/>
              <a:pathLst>
                <a:path h="987552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2" r="0" b="-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92024"/>
            <a:ext cx="8229600" cy="754380"/>
            <a:chOff x="0" y="0"/>
            <a:chExt cx="1097280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0972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Оқыту әдістері: Түнгі жорық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0" y="219456"/>
            <a:ext cx="3977640" cy="685800"/>
            <a:chOff x="0" y="0"/>
            <a:chExt cx="530352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3035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960"/>
                </a:lnSpc>
              </a:pPr>
              <a:r>
                <a:rPr lang="en-US" sz="33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2 / 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61745" y="163449"/>
            <a:ext cx="3897630" cy="825246"/>
            <a:chOff x="0" y="0"/>
            <a:chExt cx="5196840" cy="1100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96840" cy="1100328"/>
            </a:xfrm>
            <a:custGeom>
              <a:avLst/>
              <a:gdLst/>
              <a:ahLst/>
              <a:cxnLst/>
              <a:rect r="r" b="b" t="t" l="l"/>
              <a:pathLst>
                <a:path h="1100328" w="5196840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705604" y="0"/>
                  </a:lnTo>
                  <a:cubicBezTo>
                    <a:pt x="4976876" y="0"/>
                    <a:pt x="5196840" y="219964"/>
                    <a:pt x="5196840" y="491236"/>
                  </a:cubicBezTo>
                  <a:lnTo>
                    <a:pt x="5196840" y="609092"/>
                  </a:lnTo>
                  <a:cubicBezTo>
                    <a:pt x="5196840" y="880364"/>
                    <a:pt x="4976876" y="1100328"/>
                    <a:pt x="4705604" y="1100328"/>
                  </a:cubicBezTo>
                  <a:lnTo>
                    <a:pt x="491236" y="1100328"/>
                  </a:lnTo>
                  <a:cubicBezTo>
                    <a:pt x="219964" y="1100328"/>
                    <a:pt x="0" y="880364"/>
                    <a:pt x="0" y="609092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196840" cy="116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Сұрақты ашу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70586" y="8133340"/>
            <a:ext cx="1154430" cy="1154430"/>
            <a:chOff x="0" y="0"/>
            <a:chExt cx="1539240" cy="1539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34342" y="5333657"/>
            <a:ext cx="1192530" cy="1192530"/>
            <a:chOff x="0" y="0"/>
            <a:chExt cx="1590040" cy="1590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90040" cy="1590040"/>
            </a:xfrm>
            <a:custGeom>
              <a:avLst/>
              <a:gdLst/>
              <a:ahLst/>
              <a:cxnLst/>
              <a:rect r="r" b="b" t="t" l="l"/>
              <a:pathLst>
                <a:path h="1590040" w="1590040">
                  <a:moveTo>
                    <a:pt x="0" y="278257"/>
                  </a:moveTo>
                  <a:cubicBezTo>
                    <a:pt x="0" y="124587"/>
                    <a:pt x="124587" y="0"/>
                    <a:pt x="278257" y="0"/>
                  </a:cubicBezTo>
                  <a:lnTo>
                    <a:pt x="1311783" y="0"/>
                  </a:lnTo>
                  <a:cubicBezTo>
                    <a:pt x="1465453" y="0"/>
                    <a:pt x="1590040" y="124587"/>
                    <a:pt x="1590040" y="278257"/>
                  </a:cubicBezTo>
                  <a:lnTo>
                    <a:pt x="1590040" y="1311783"/>
                  </a:lnTo>
                  <a:cubicBezTo>
                    <a:pt x="1590040" y="1465453"/>
                    <a:pt x="1465453" y="1590040"/>
                    <a:pt x="1311783" y="1590040"/>
                  </a:cubicBezTo>
                  <a:lnTo>
                    <a:pt x="278257" y="1590040"/>
                  </a:lnTo>
                  <a:cubicBezTo>
                    <a:pt x="124587" y="1590040"/>
                    <a:pt x="0" y="1465453"/>
                    <a:pt x="0" y="1311783"/>
                  </a:cubicBezTo>
                  <a:close/>
                </a:path>
              </a:pathLst>
            </a:custGeom>
            <a:solidFill>
              <a:srgbClr val="FFB347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590040" cy="167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07585" y="3746935"/>
            <a:ext cx="1154430" cy="1154430"/>
            <a:chOff x="0" y="0"/>
            <a:chExt cx="1539240" cy="1539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36800" y="5100695"/>
            <a:ext cx="1154430" cy="1154430"/>
            <a:chOff x="0" y="0"/>
            <a:chExt cx="1539240" cy="1539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37000" y="7137940"/>
            <a:ext cx="1154430" cy="1154430"/>
            <a:chOff x="0" y="0"/>
            <a:chExt cx="1539240" cy="1539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19867" y="5706599"/>
            <a:ext cx="1154430" cy="1154430"/>
            <a:chOff x="0" y="0"/>
            <a:chExt cx="1539240" cy="1539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94872" y="2891514"/>
            <a:ext cx="1154430" cy="1154430"/>
            <a:chOff x="0" y="0"/>
            <a:chExt cx="1539240" cy="1539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87571" y="2456831"/>
            <a:ext cx="1154430" cy="1154430"/>
            <a:chOff x="0" y="0"/>
            <a:chExt cx="1539240" cy="1539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905328" y="5122545"/>
            <a:ext cx="1154430" cy="1154430"/>
            <a:chOff x="0" y="0"/>
            <a:chExt cx="1539240" cy="1539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08849" y="7818511"/>
            <a:ext cx="1154430" cy="1154430"/>
            <a:chOff x="0" y="0"/>
            <a:chExt cx="1539240" cy="1539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4841" y="9327775"/>
            <a:ext cx="1645920" cy="480060"/>
            <a:chOff x="0" y="0"/>
            <a:chExt cx="219456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945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Старт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413387" y="4078262"/>
            <a:ext cx="1207008" cy="1234440"/>
            <a:chOff x="0" y="0"/>
            <a:chExt cx="1609344" cy="1645920"/>
          </a:xfrm>
        </p:grpSpPr>
        <p:sp>
          <p:nvSpPr>
            <p:cNvPr name="Freeform 48" id="48" descr="Сиқыршы осы жерде"/>
            <p:cNvSpPr/>
            <p:nvPr/>
          </p:nvSpPr>
          <p:spPr>
            <a:xfrm flipH="false" flipV="false" rot="0">
              <a:off x="0" y="0"/>
              <a:ext cx="160934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1" r="0" b="-12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411480"/>
            <a:ext cx="4800600" cy="617220"/>
            <a:chOff x="0" y="0"/>
            <a:chExt cx="6400800" cy="822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0800" cy="822960"/>
            </a:xfrm>
            <a:custGeom>
              <a:avLst/>
              <a:gdLst/>
              <a:ahLst/>
              <a:cxnLst/>
              <a:rect r="r" b="b" t="t" l="l"/>
              <a:pathLst>
                <a:path h="8229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400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2 / 10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0" y="342900"/>
            <a:ext cx="960120" cy="987552"/>
            <a:chOff x="0" y="0"/>
            <a:chExt cx="1280160" cy="1316736"/>
          </a:xfrm>
        </p:grpSpPr>
        <p:sp>
          <p:nvSpPr>
            <p:cNvPr name="Freeform 7" id="7" descr="Елес"/>
            <p:cNvSpPr/>
            <p:nvPr/>
          </p:nvSpPr>
          <p:spPr>
            <a:xfrm flipH="false" flipV="false" rot="0">
              <a:off x="0" y="0"/>
              <a:ext cx="12801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45" t="0" r="-224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1165860"/>
            <a:ext cx="15361920" cy="2331720"/>
            <a:chOff x="0" y="0"/>
            <a:chExt cx="20482560" cy="310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3108960"/>
            </a:xfrm>
            <a:custGeom>
              <a:avLst/>
              <a:gdLst/>
              <a:ahLst/>
              <a:cxnLst/>
              <a:rect r="r" b="b" t="t" l="l"/>
              <a:pathLst>
                <a:path h="3108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372" r="0" b="-78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0" cy="3118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Білім көзі бойынша оқыту әдістерінің дәстүрлі жіктемесі қай топтарды қамтиды?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4385" y="3743325"/>
            <a:ext cx="8218170" cy="2251710"/>
            <a:chOff x="0" y="0"/>
            <a:chExt cx="10957560" cy="3002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Репродуктивті, эвристикалық, зерттеу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70873" y="3743325"/>
            <a:ext cx="8218170" cy="2251710"/>
            <a:chOff x="0" y="0"/>
            <a:chExt cx="10957560" cy="3002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Жеке, жұптық, топтық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4385" y="6349365"/>
            <a:ext cx="8218170" cy="2251710"/>
            <a:chOff x="0" y="0"/>
            <a:chExt cx="10957560" cy="3002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Индуктивті, дедуктивті, аналитикалық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70873" y="6349365"/>
            <a:ext cx="8218170" cy="2251710"/>
            <a:chOff x="0" y="0"/>
            <a:chExt cx="10957560" cy="3002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Сөздік, көрнекілік, практикалық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121140"/>
            <a:ext cx="8229600" cy="548640"/>
            <a:chOff x="0" y="0"/>
            <a:chExt cx="10972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1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Дұрыс жауапты басыңыз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Дұрыс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86EFA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Дұрыс!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545" y="2988945"/>
            <a:ext cx="16420338" cy="3760470"/>
            <a:chOff x="0" y="0"/>
            <a:chExt cx="21893784" cy="501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93785" cy="5013960"/>
            </a:xfrm>
            <a:custGeom>
              <a:avLst/>
              <a:gdLst/>
              <a:ahLst/>
              <a:cxnLst/>
              <a:rect r="r" b="b" t="t" l="l"/>
              <a:pathLst>
                <a:path h="5013960" w="21893785">
                  <a:moveTo>
                    <a:pt x="0" y="371348"/>
                  </a:moveTo>
                  <a:cubicBezTo>
                    <a:pt x="0" y="166243"/>
                    <a:pt x="166243" y="0"/>
                    <a:pt x="371348" y="0"/>
                  </a:cubicBezTo>
                  <a:lnTo>
                    <a:pt x="21522437" y="0"/>
                  </a:lnTo>
                  <a:cubicBezTo>
                    <a:pt x="21727542" y="0"/>
                    <a:pt x="21893785" y="166243"/>
                    <a:pt x="21893785" y="371348"/>
                  </a:cubicBezTo>
                  <a:lnTo>
                    <a:pt x="21893785" y="4642612"/>
                  </a:lnTo>
                  <a:cubicBezTo>
                    <a:pt x="21893785" y="4847717"/>
                    <a:pt x="21727542" y="5013960"/>
                    <a:pt x="21522437" y="5013960"/>
                  </a:cubicBezTo>
                  <a:lnTo>
                    <a:pt x="371348" y="5013960"/>
                  </a:lnTo>
                  <a:cubicBezTo>
                    <a:pt x="166243" y="5013960"/>
                    <a:pt x="0" y="4847717"/>
                    <a:pt x="0" y="4642612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93784" cy="508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Білім көзіне қарай (сөз, көрнекі құрал, практикалық іс-әрекет) әдістер үш топқа бөлінеді (Е.И. Перовский, Е.Я. Голант).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Қате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CA5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Қате жауап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1070" y="2655570"/>
            <a:ext cx="16401288" cy="1752600"/>
            <a:chOff x="0" y="0"/>
            <a:chExt cx="21868384" cy="233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68385" cy="2336800"/>
            </a:xfrm>
            <a:custGeom>
              <a:avLst/>
              <a:gdLst/>
              <a:ahLst/>
              <a:cxnLst/>
              <a:rect r="r" b="b" t="t" l="l"/>
              <a:pathLst>
                <a:path h="2336800" w="21868385">
                  <a:moveTo>
                    <a:pt x="0" y="373888"/>
                  </a:moveTo>
                  <a:cubicBezTo>
                    <a:pt x="0" y="167386"/>
                    <a:pt x="167386" y="0"/>
                    <a:pt x="373888" y="0"/>
                  </a:cubicBezTo>
                  <a:lnTo>
                    <a:pt x="21494496" y="0"/>
                  </a:lnTo>
                  <a:cubicBezTo>
                    <a:pt x="21700998" y="0"/>
                    <a:pt x="21868385" y="167386"/>
                    <a:pt x="21868385" y="373888"/>
                  </a:cubicBezTo>
                  <a:lnTo>
                    <a:pt x="21868385" y="1962912"/>
                  </a:lnTo>
                  <a:cubicBezTo>
                    <a:pt x="21868385" y="2169414"/>
                    <a:pt x="21700998" y="2336800"/>
                    <a:pt x="21494496" y="2336800"/>
                  </a:cubicBezTo>
                  <a:lnTo>
                    <a:pt x="373888" y="2336800"/>
                  </a:lnTo>
                  <a:cubicBezTo>
                    <a:pt x="167386" y="2336800"/>
                    <a:pt x="0" y="2169414"/>
                    <a:pt x="0" y="1962912"/>
                  </a:cubicBezTo>
                  <a:close/>
                </a:path>
              </a:pathLst>
            </a:custGeom>
            <a:solidFill>
              <a:srgbClr val="86EFA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68384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B0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Дұрыс жауап: D. Сөздік, көрнекілік, практикалық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545" y="4772025"/>
            <a:ext cx="16420338" cy="3417570"/>
            <a:chOff x="0" y="0"/>
            <a:chExt cx="21893784" cy="4556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93785" cy="4556760"/>
            </a:xfrm>
            <a:custGeom>
              <a:avLst/>
              <a:gdLst/>
              <a:ahLst/>
              <a:cxnLst/>
              <a:rect r="r" b="b" t="t" l="l"/>
              <a:pathLst>
                <a:path h="4556760" w="21893785">
                  <a:moveTo>
                    <a:pt x="0" y="371983"/>
                  </a:moveTo>
                  <a:cubicBezTo>
                    <a:pt x="0" y="166497"/>
                    <a:pt x="166497" y="0"/>
                    <a:pt x="371983" y="0"/>
                  </a:cubicBezTo>
                  <a:lnTo>
                    <a:pt x="21521801" y="0"/>
                  </a:lnTo>
                  <a:cubicBezTo>
                    <a:pt x="21727288" y="0"/>
                    <a:pt x="21893785" y="166497"/>
                    <a:pt x="21893785" y="371983"/>
                  </a:cubicBezTo>
                  <a:lnTo>
                    <a:pt x="21893785" y="4184777"/>
                  </a:lnTo>
                  <a:cubicBezTo>
                    <a:pt x="21893785" y="4390263"/>
                    <a:pt x="21727288" y="4556760"/>
                    <a:pt x="21521801" y="4556760"/>
                  </a:cubicBezTo>
                  <a:lnTo>
                    <a:pt x="371983" y="4556760"/>
                  </a:lnTo>
                  <a:cubicBezTo>
                    <a:pt x="166497" y="4556760"/>
                    <a:pt x="0" y="4390263"/>
                    <a:pt x="0" y="4184777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893784" cy="4623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Білім көзіне қарай (сөз, көрнекі құрал, практикалық іс-әрекет) әдістер үш топқа бөлінеді (Е.И. Перовский, Е.Я. Голант).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1480" y="192024"/>
            <a:ext cx="795528" cy="740664"/>
            <a:chOff x="0" y="0"/>
            <a:chExt cx="1060704" cy="987552"/>
          </a:xfrm>
        </p:grpSpPr>
        <p:sp>
          <p:nvSpPr>
            <p:cNvPr name="Freeform 4" id="4" descr="Асқабақ"/>
            <p:cNvSpPr/>
            <p:nvPr/>
          </p:nvSpPr>
          <p:spPr>
            <a:xfrm flipH="false" flipV="false" rot="0">
              <a:off x="0" y="0"/>
              <a:ext cx="1060704" cy="987552"/>
            </a:xfrm>
            <a:custGeom>
              <a:avLst/>
              <a:gdLst/>
              <a:ahLst/>
              <a:cxnLst/>
              <a:rect r="r" b="b" t="t" l="l"/>
              <a:pathLst>
                <a:path h="987552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2" r="0" b="-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92024"/>
            <a:ext cx="8229600" cy="754380"/>
            <a:chOff x="0" y="0"/>
            <a:chExt cx="1097280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0972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Оқыту әдістері: Түнгі жорық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0" y="219456"/>
            <a:ext cx="3977640" cy="685800"/>
            <a:chOff x="0" y="0"/>
            <a:chExt cx="530352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3035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960"/>
                </a:lnSpc>
              </a:pPr>
              <a:r>
                <a:rPr lang="en-US" sz="33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3 / 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61745" y="163449"/>
            <a:ext cx="3897630" cy="825246"/>
            <a:chOff x="0" y="0"/>
            <a:chExt cx="5196840" cy="1100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96840" cy="1100328"/>
            </a:xfrm>
            <a:custGeom>
              <a:avLst/>
              <a:gdLst/>
              <a:ahLst/>
              <a:cxnLst/>
              <a:rect r="r" b="b" t="t" l="l"/>
              <a:pathLst>
                <a:path h="1100328" w="5196840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705604" y="0"/>
                  </a:lnTo>
                  <a:cubicBezTo>
                    <a:pt x="4976876" y="0"/>
                    <a:pt x="5196840" y="219964"/>
                    <a:pt x="5196840" y="491236"/>
                  </a:cubicBezTo>
                  <a:lnTo>
                    <a:pt x="5196840" y="609092"/>
                  </a:lnTo>
                  <a:cubicBezTo>
                    <a:pt x="5196840" y="880364"/>
                    <a:pt x="4976876" y="1100328"/>
                    <a:pt x="4705604" y="1100328"/>
                  </a:cubicBezTo>
                  <a:lnTo>
                    <a:pt x="491236" y="1100328"/>
                  </a:lnTo>
                  <a:cubicBezTo>
                    <a:pt x="219964" y="1100328"/>
                    <a:pt x="0" y="880364"/>
                    <a:pt x="0" y="609092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196840" cy="116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Сұрақты ашу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70586" y="8133340"/>
            <a:ext cx="1154430" cy="1154430"/>
            <a:chOff x="0" y="0"/>
            <a:chExt cx="1539240" cy="1539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53392" y="5352707"/>
            <a:ext cx="1154430" cy="1154430"/>
            <a:chOff x="0" y="0"/>
            <a:chExt cx="1539240" cy="1539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588535" y="3727885"/>
            <a:ext cx="1192530" cy="1192530"/>
            <a:chOff x="0" y="0"/>
            <a:chExt cx="1590040" cy="1590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90040" cy="1590040"/>
            </a:xfrm>
            <a:custGeom>
              <a:avLst/>
              <a:gdLst/>
              <a:ahLst/>
              <a:cxnLst/>
              <a:rect r="r" b="b" t="t" l="l"/>
              <a:pathLst>
                <a:path h="1590040" w="1590040">
                  <a:moveTo>
                    <a:pt x="0" y="278257"/>
                  </a:moveTo>
                  <a:cubicBezTo>
                    <a:pt x="0" y="124587"/>
                    <a:pt x="124587" y="0"/>
                    <a:pt x="278257" y="0"/>
                  </a:cubicBezTo>
                  <a:lnTo>
                    <a:pt x="1311783" y="0"/>
                  </a:lnTo>
                  <a:cubicBezTo>
                    <a:pt x="1465453" y="0"/>
                    <a:pt x="1590040" y="124587"/>
                    <a:pt x="1590040" y="278257"/>
                  </a:cubicBezTo>
                  <a:lnTo>
                    <a:pt x="1590040" y="1311783"/>
                  </a:lnTo>
                  <a:cubicBezTo>
                    <a:pt x="1590040" y="1465453"/>
                    <a:pt x="1465453" y="1590040"/>
                    <a:pt x="1311783" y="1590040"/>
                  </a:cubicBezTo>
                  <a:lnTo>
                    <a:pt x="278257" y="1590040"/>
                  </a:lnTo>
                  <a:cubicBezTo>
                    <a:pt x="124587" y="1590040"/>
                    <a:pt x="0" y="1465453"/>
                    <a:pt x="0" y="1311783"/>
                  </a:cubicBezTo>
                  <a:close/>
                </a:path>
              </a:pathLst>
            </a:custGeom>
            <a:solidFill>
              <a:srgbClr val="FFB347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590040" cy="167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36800" y="5100695"/>
            <a:ext cx="1154430" cy="1154430"/>
            <a:chOff x="0" y="0"/>
            <a:chExt cx="1539240" cy="1539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37000" y="7137940"/>
            <a:ext cx="1154430" cy="1154430"/>
            <a:chOff x="0" y="0"/>
            <a:chExt cx="1539240" cy="1539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19867" y="5706599"/>
            <a:ext cx="1154430" cy="1154430"/>
            <a:chOff x="0" y="0"/>
            <a:chExt cx="1539240" cy="1539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94872" y="2891514"/>
            <a:ext cx="1154430" cy="1154430"/>
            <a:chOff x="0" y="0"/>
            <a:chExt cx="1539240" cy="1539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87571" y="2456831"/>
            <a:ext cx="1154430" cy="1154430"/>
            <a:chOff x="0" y="0"/>
            <a:chExt cx="1539240" cy="1539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905328" y="5122545"/>
            <a:ext cx="1154430" cy="1154430"/>
            <a:chOff x="0" y="0"/>
            <a:chExt cx="1539240" cy="1539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08849" y="7818511"/>
            <a:ext cx="1154430" cy="1154430"/>
            <a:chOff x="0" y="0"/>
            <a:chExt cx="1539240" cy="1539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4841" y="9327775"/>
            <a:ext cx="1645920" cy="480060"/>
            <a:chOff x="0" y="0"/>
            <a:chExt cx="219456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945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Старт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567580" y="2472490"/>
            <a:ext cx="1207008" cy="1234440"/>
            <a:chOff x="0" y="0"/>
            <a:chExt cx="1609344" cy="1645920"/>
          </a:xfrm>
        </p:grpSpPr>
        <p:sp>
          <p:nvSpPr>
            <p:cNvPr name="Freeform 48" id="48" descr="Сиқыршы осы жерде"/>
            <p:cNvSpPr/>
            <p:nvPr/>
          </p:nvSpPr>
          <p:spPr>
            <a:xfrm flipH="false" flipV="false" rot="0">
              <a:off x="0" y="0"/>
              <a:ext cx="160934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1" r="0" b="-121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411480"/>
            <a:ext cx="4800600" cy="617220"/>
            <a:chOff x="0" y="0"/>
            <a:chExt cx="6400800" cy="822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0800" cy="822960"/>
            </a:xfrm>
            <a:custGeom>
              <a:avLst/>
              <a:gdLst/>
              <a:ahLst/>
              <a:cxnLst/>
              <a:rect r="r" b="b" t="t" l="l"/>
              <a:pathLst>
                <a:path h="8229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400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3 / 10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0" y="342900"/>
            <a:ext cx="960120" cy="987552"/>
            <a:chOff x="0" y="0"/>
            <a:chExt cx="1280160" cy="1316736"/>
          </a:xfrm>
        </p:grpSpPr>
        <p:sp>
          <p:nvSpPr>
            <p:cNvPr name="Freeform 7" id="7" descr="Елес"/>
            <p:cNvSpPr/>
            <p:nvPr/>
          </p:nvSpPr>
          <p:spPr>
            <a:xfrm flipH="false" flipV="false" rot="0">
              <a:off x="0" y="0"/>
              <a:ext cx="12801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45" t="0" r="-224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1165860"/>
            <a:ext cx="15361920" cy="2331720"/>
            <a:chOff x="0" y="0"/>
            <a:chExt cx="20482560" cy="310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3108960"/>
            </a:xfrm>
            <a:custGeom>
              <a:avLst/>
              <a:gdLst/>
              <a:ahLst/>
              <a:cxnLst/>
              <a:rect r="r" b="b" t="t" l="l"/>
              <a:pathLst>
                <a:path h="3108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372" r="0" b="-78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0" cy="3118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И.Я. Лернер мен М.Н. Скаткиннің таным іс-әрекетінің сипаты бойынша жіктемесіне қайсысы жатпайды?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4385" y="3743325"/>
            <a:ext cx="8218170" cy="2251710"/>
            <a:chOff x="0" y="0"/>
            <a:chExt cx="10957560" cy="3002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Лабораториялық жұмыс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70873" y="3743325"/>
            <a:ext cx="8218170" cy="2251710"/>
            <a:chOff x="0" y="0"/>
            <a:chExt cx="10957560" cy="3002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Репродуктивті әдіс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4385" y="6349365"/>
            <a:ext cx="8218170" cy="2251710"/>
            <a:chOff x="0" y="0"/>
            <a:chExt cx="10957560" cy="3002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Ішінара-іздеу (эвристикалық) әдіс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70873" y="6349365"/>
            <a:ext cx="8218170" cy="2251710"/>
            <a:chOff x="0" y="0"/>
            <a:chExt cx="10957560" cy="3002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Зерттеу әдісі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121140"/>
            <a:ext cx="8229600" cy="548640"/>
            <a:chOff x="0" y="0"/>
            <a:chExt cx="10972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1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Дұрыс жауапты басыңыз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Дұрыс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86EFA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Дұрыс!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545" y="2988945"/>
            <a:ext cx="16420338" cy="3760470"/>
            <a:chOff x="0" y="0"/>
            <a:chExt cx="21893784" cy="501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93785" cy="5013960"/>
            </a:xfrm>
            <a:custGeom>
              <a:avLst/>
              <a:gdLst/>
              <a:ahLst/>
              <a:cxnLst/>
              <a:rect r="r" b="b" t="t" l="l"/>
              <a:pathLst>
                <a:path h="5013960" w="21893785">
                  <a:moveTo>
                    <a:pt x="0" y="371348"/>
                  </a:moveTo>
                  <a:cubicBezTo>
                    <a:pt x="0" y="166243"/>
                    <a:pt x="166243" y="0"/>
                    <a:pt x="371348" y="0"/>
                  </a:cubicBezTo>
                  <a:lnTo>
                    <a:pt x="21522437" y="0"/>
                  </a:lnTo>
                  <a:cubicBezTo>
                    <a:pt x="21727542" y="0"/>
                    <a:pt x="21893785" y="166243"/>
                    <a:pt x="21893785" y="371348"/>
                  </a:cubicBezTo>
                  <a:lnTo>
                    <a:pt x="21893785" y="4642612"/>
                  </a:lnTo>
                  <a:cubicBezTo>
                    <a:pt x="21893785" y="4847717"/>
                    <a:pt x="21727542" y="5013960"/>
                    <a:pt x="21522437" y="5013960"/>
                  </a:cubicBezTo>
                  <a:lnTo>
                    <a:pt x="371348" y="5013960"/>
                  </a:lnTo>
                  <a:cubicBezTo>
                    <a:pt x="166243" y="5013960"/>
                    <a:pt x="0" y="4847717"/>
                    <a:pt x="0" y="4642612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93784" cy="508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Лабораториялық жұмыс — білім көзі бойынша жіктелген практикалық әдістер тобында. Лернер–Скаткин: түсіндірмелі-иллюстративті, репродуктивті, проблемалық баяндау, ішінара-іздеу, зерттеу.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Қате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CA5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Қате жауап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1070" y="2655570"/>
            <a:ext cx="16401288" cy="1752600"/>
            <a:chOff x="0" y="0"/>
            <a:chExt cx="21868384" cy="233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68385" cy="2336800"/>
            </a:xfrm>
            <a:custGeom>
              <a:avLst/>
              <a:gdLst/>
              <a:ahLst/>
              <a:cxnLst/>
              <a:rect r="r" b="b" t="t" l="l"/>
              <a:pathLst>
                <a:path h="2336800" w="21868385">
                  <a:moveTo>
                    <a:pt x="0" y="373888"/>
                  </a:moveTo>
                  <a:cubicBezTo>
                    <a:pt x="0" y="167386"/>
                    <a:pt x="167386" y="0"/>
                    <a:pt x="373888" y="0"/>
                  </a:cubicBezTo>
                  <a:lnTo>
                    <a:pt x="21494496" y="0"/>
                  </a:lnTo>
                  <a:cubicBezTo>
                    <a:pt x="21700998" y="0"/>
                    <a:pt x="21868385" y="167386"/>
                    <a:pt x="21868385" y="373888"/>
                  </a:cubicBezTo>
                  <a:lnTo>
                    <a:pt x="21868385" y="1962912"/>
                  </a:lnTo>
                  <a:cubicBezTo>
                    <a:pt x="21868385" y="2169414"/>
                    <a:pt x="21700998" y="2336800"/>
                    <a:pt x="21494496" y="2336800"/>
                  </a:cubicBezTo>
                  <a:lnTo>
                    <a:pt x="373888" y="2336800"/>
                  </a:lnTo>
                  <a:cubicBezTo>
                    <a:pt x="167386" y="2336800"/>
                    <a:pt x="0" y="2169414"/>
                    <a:pt x="0" y="1962912"/>
                  </a:cubicBezTo>
                  <a:close/>
                </a:path>
              </a:pathLst>
            </a:custGeom>
            <a:solidFill>
              <a:srgbClr val="86EFA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68384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B0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Дұрыс жауап: A. Лабораториялық жұмыс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545" y="4772025"/>
            <a:ext cx="16420338" cy="3417570"/>
            <a:chOff x="0" y="0"/>
            <a:chExt cx="21893784" cy="4556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93785" cy="4556760"/>
            </a:xfrm>
            <a:custGeom>
              <a:avLst/>
              <a:gdLst/>
              <a:ahLst/>
              <a:cxnLst/>
              <a:rect r="r" b="b" t="t" l="l"/>
              <a:pathLst>
                <a:path h="4556760" w="21893785">
                  <a:moveTo>
                    <a:pt x="0" y="371983"/>
                  </a:moveTo>
                  <a:cubicBezTo>
                    <a:pt x="0" y="166497"/>
                    <a:pt x="166497" y="0"/>
                    <a:pt x="371983" y="0"/>
                  </a:cubicBezTo>
                  <a:lnTo>
                    <a:pt x="21521801" y="0"/>
                  </a:lnTo>
                  <a:cubicBezTo>
                    <a:pt x="21727288" y="0"/>
                    <a:pt x="21893785" y="166497"/>
                    <a:pt x="21893785" y="371983"/>
                  </a:cubicBezTo>
                  <a:lnTo>
                    <a:pt x="21893785" y="4184777"/>
                  </a:lnTo>
                  <a:cubicBezTo>
                    <a:pt x="21893785" y="4390263"/>
                    <a:pt x="21727288" y="4556760"/>
                    <a:pt x="21521801" y="4556760"/>
                  </a:cubicBezTo>
                  <a:lnTo>
                    <a:pt x="371983" y="4556760"/>
                  </a:lnTo>
                  <a:cubicBezTo>
                    <a:pt x="166497" y="4556760"/>
                    <a:pt x="0" y="4390263"/>
                    <a:pt x="0" y="4184777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893784" cy="4623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Лабораториялық жұмыс — білім көзі бойынша жіктелген практикалық әдістер тобында. Лернер–Скаткин: түсіндірмелі-иллюстративті, репродуктивті, проблемалық баяндау, ішінара-іздеу, зерттеу.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1480" y="192024"/>
            <a:ext cx="795528" cy="740664"/>
            <a:chOff x="0" y="0"/>
            <a:chExt cx="1060704" cy="987552"/>
          </a:xfrm>
        </p:grpSpPr>
        <p:sp>
          <p:nvSpPr>
            <p:cNvPr name="Freeform 4" id="4" descr="Асқабақ"/>
            <p:cNvSpPr/>
            <p:nvPr/>
          </p:nvSpPr>
          <p:spPr>
            <a:xfrm flipH="false" flipV="false" rot="0">
              <a:off x="0" y="0"/>
              <a:ext cx="1060704" cy="987552"/>
            </a:xfrm>
            <a:custGeom>
              <a:avLst/>
              <a:gdLst/>
              <a:ahLst/>
              <a:cxnLst/>
              <a:rect r="r" b="b" t="t" l="l"/>
              <a:pathLst>
                <a:path h="987552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2" r="0" b="-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92024"/>
            <a:ext cx="8229600" cy="754380"/>
            <a:chOff x="0" y="0"/>
            <a:chExt cx="1097280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0972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Оқыту әдістері: Түнгі жорық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0" y="219456"/>
            <a:ext cx="3977640" cy="685800"/>
            <a:chOff x="0" y="0"/>
            <a:chExt cx="530352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3035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960"/>
                </a:lnSpc>
              </a:pPr>
              <a:r>
                <a:rPr lang="en-US" sz="33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4 / 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61745" y="163449"/>
            <a:ext cx="3897630" cy="825246"/>
            <a:chOff x="0" y="0"/>
            <a:chExt cx="5196840" cy="1100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96840" cy="1100328"/>
            </a:xfrm>
            <a:custGeom>
              <a:avLst/>
              <a:gdLst/>
              <a:ahLst/>
              <a:cxnLst/>
              <a:rect r="r" b="b" t="t" l="l"/>
              <a:pathLst>
                <a:path h="1100328" w="5196840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705604" y="0"/>
                  </a:lnTo>
                  <a:cubicBezTo>
                    <a:pt x="4976876" y="0"/>
                    <a:pt x="5196840" y="219964"/>
                    <a:pt x="5196840" y="491236"/>
                  </a:cubicBezTo>
                  <a:lnTo>
                    <a:pt x="5196840" y="609092"/>
                  </a:lnTo>
                  <a:cubicBezTo>
                    <a:pt x="5196840" y="880364"/>
                    <a:pt x="4976876" y="1100328"/>
                    <a:pt x="4705604" y="1100328"/>
                  </a:cubicBezTo>
                  <a:lnTo>
                    <a:pt x="491236" y="1100328"/>
                  </a:lnTo>
                  <a:cubicBezTo>
                    <a:pt x="219964" y="1100328"/>
                    <a:pt x="0" y="880364"/>
                    <a:pt x="0" y="609092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196840" cy="116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Сұрақты ашу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70586" y="8133340"/>
            <a:ext cx="1154430" cy="1154430"/>
            <a:chOff x="0" y="0"/>
            <a:chExt cx="1539240" cy="1539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53392" y="5352707"/>
            <a:ext cx="1154430" cy="1154430"/>
            <a:chOff x="0" y="0"/>
            <a:chExt cx="1539240" cy="1539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07585" y="3746935"/>
            <a:ext cx="1154430" cy="1154430"/>
            <a:chOff x="0" y="0"/>
            <a:chExt cx="1539240" cy="1539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17750" y="5081645"/>
            <a:ext cx="1192530" cy="1192530"/>
            <a:chOff x="0" y="0"/>
            <a:chExt cx="1590040" cy="1590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90040" cy="1590040"/>
            </a:xfrm>
            <a:custGeom>
              <a:avLst/>
              <a:gdLst/>
              <a:ahLst/>
              <a:cxnLst/>
              <a:rect r="r" b="b" t="t" l="l"/>
              <a:pathLst>
                <a:path h="1590040" w="1590040">
                  <a:moveTo>
                    <a:pt x="0" y="278257"/>
                  </a:moveTo>
                  <a:cubicBezTo>
                    <a:pt x="0" y="124587"/>
                    <a:pt x="124587" y="0"/>
                    <a:pt x="278257" y="0"/>
                  </a:cubicBezTo>
                  <a:lnTo>
                    <a:pt x="1311783" y="0"/>
                  </a:lnTo>
                  <a:cubicBezTo>
                    <a:pt x="1465453" y="0"/>
                    <a:pt x="1590040" y="124587"/>
                    <a:pt x="1590040" y="278257"/>
                  </a:cubicBezTo>
                  <a:lnTo>
                    <a:pt x="1590040" y="1311783"/>
                  </a:lnTo>
                  <a:cubicBezTo>
                    <a:pt x="1590040" y="1465453"/>
                    <a:pt x="1465453" y="1590040"/>
                    <a:pt x="1311783" y="1590040"/>
                  </a:cubicBezTo>
                  <a:lnTo>
                    <a:pt x="278257" y="1590040"/>
                  </a:lnTo>
                  <a:cubicBezTo>
                    <a:pt x="124587" y="1590040"/>
                    <a:pt x="0" y="1465453"/>
                    <a:pt x="0" y="1311783"/>
                  </a:cubicBezTo>
                  <a:close/>
                </a:path>
              </a:pathLst>
            </a:custGeom>
            <a:solidFill>
              <a:srgbClr val="FFB347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590040" cy="167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37000" y="7137940"/>
            <a:ext cx="1154430" cy="1154430"/>
            <a:chOff x="0" y="0"/>
            <a:chExt cx="1539240" cy="1539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19867" y="5706599"/>
            <a:ext cx="1154430" cy="1154430"/>
            <a:chOff x="0" y="0"/>
            <a:chExt cx="1539240" cy="1539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94872" y="2891514"/>
            <a:ext cx="1154430" cy="1154430"/>
            <a:chOff x="0" y="0"/>
            <a:chExt cx="1539240" cy="1539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87571" y="2456831"/>
            <a:ext cx="1154430" cy="1154430"/>
            <a:chOff x="0" y="0"/>
            <a:chExt cx="1539240" cy="1539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905328" y="5122545"/>
            <a:ext cx="1154430" cy="1154430"/>
            <a:chOff x="0" y="0"/>
            <a:chExt cx="1539240" cy="1539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08849" y="7818511"/>
            <a:ext cx="1154430" cy="1154430"/>
            <a:chOff x="0" y="0"/>
            <a:chExt cx="1539240" cy="1539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4841" y="9327775"/>
            <a:ext cx="1645920" cy="480060"/>
            <a:chOff x="0" y="0"/>
            <a:chExt cx="219456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945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Старт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96795" y="3826250"/>
            <a:ext cx="1207008" cy="1234440"/>
            <a:chOff x="0" y="0"/>
            <a:chExt cx="1609344" cy="1645920"/>
          </a:xfrm>
        </p:grpSpPr>
        <p:sp>
          <p:nvSpPr>
            <p:cNvPr name="Freeform 48" id="48" descr="Сиқыршы осы жерде"/>
            <p:cNvSpPr/>
            <p:nvPr/>
          </p:nvSpPr>
          <p:spPr>
            <a:xfrm flipH="false" flipV="false" rot="0">
              <a:off x="0" y="0"/>
              <a:ext cx="160934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1" r="0" b="-121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411480"/>
            <a:ext cx="4800600" cy="617220"/>
            <a:chOff x="0" y="0"/>
            <a:chExt cx="6400800" cy="822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0800" cy="822960"/>
            </a:xfrm>
            <a:custGeom>
              <a:avLst/>
              <a:gdLst/>
              <a:ahLst/>
              <a:cxnLst/>
              <a:rect r="r" b="b" t="t" l="l"/>
              <a:pathLst>
                <a:path h="8229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400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4 / 10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0" y="342900"/>
            <a:ext cx="960120" cy="987552"/>
            <a:chOff x="0" y="0"/>
            <a:chExt cx="1280160" cy="1316736"/>
          </a:xfrm>
        </p:grpSpPr>
        <p:sp>
          <p:nvSpPr>
            <p:cNvPr name="Freeform 7" id="7" descr="Елес"/>
            <p:cNvSpPr/>
            <p:nvPr/>
          </p:nvSpPr>
          <p:spPr>
            <a:xfrm flipH="false" flipV="false" rot="0">
              <a:off x="0" y="0"/>
              <a:ext cx="12801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45" t="0" r="-224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1165860"/>
            <a:ext cx="15361920" cy="2331720"/>
            <a:chOff x="0" y="0"/>
            <a:chExt cx="20482560" cy="310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3108960"/>
            </a:xfrm>
            <a:custGeom>
              <a:avLst/>
              <a:gdLst/>
              <a:ahLst/>
              <a:cxnLst/>
              <a:rect r="r" b="b" t="t" l="l"/>
              <a:pathLst>
                <a:path h="3108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372" r="0" b="-78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0" cy="3118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Проблемалық баяндау әдісінің мәні неде?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4385" y="3743325"/>
            <a:ext cx="8218170" cy="2251710"/>
            <a:chOff x="0" y="0"/>
            <a:chExt cx="10957560" cy="3002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Оқушылар проблеманы толық өз бетінше зерттеп шешеді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70873" y="3743325"/>
            <a:ext cx="8218170" cy="2251710"/>
            <a:chOff x="0" y="0"/>
            <a:chExt cx="10957560" cy="3002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Оқушылар дайын білімді жаттап, дәл қайталайды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4385" y="6349365"/>
            <a:ext cx="8218170" cy="2251710"/>
            <a:chOff x="0" y="0"/>
            <a:chExt cx="10957560" cy="3002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Мұғалім проблема қойып, оны шешу логикасын өзі көрсетеді, ойлау үлгісін таныстырады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70873" y="6349365"/>
            <a:ext cx="8218170" cy="2251710"/>
            <a:chOff x="0" y="0"/>
            <a:chExt cx="10957560" cy="3002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Мұғалім дайын ақпаратты проблемасыз, тек баяндап береді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121140"/>
            <a:ext cx="8229600" cy="548640"/>
            <a:chOff x="0" y="0"/>
            <a:chExt cx="10972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1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Дұрыс жауапты басыңыз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Дұрыс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86EFA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Дұрыс!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545" y="2988945"/>
            <a:ext cx="16420338" cy="3760470"/>
            <a:chOff x="0" y="0"/>
            <a:chExt cx="21893784" cy="501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93785" cy="5013960"/>
            </a:xfrm>
            <a:custGeom>
              <a:avLst/>
              <a:gdLst/>
              <a:ahLst/>
              <a:cxnLst/>
              <a:rect r="r" b="b" t="t" l="l"/>
              <a:pathLst>
                <a:path h="5013960" w="21893785">
                  <a:moveTo>
                    <a:pt x="0" y="371348"/>
                  </a:moveTo>
                  <a:cubicBezTo>
                    <a:pt x="0" y="166243"/>
                    <a:pt x="166243" y="0"/>
                    <a:pt x="371348" y="0"/>
                  </a:cubicBezTo>
                  <a:lnTo>
                    <a:pt x="21522437" y="0"/>
                  </a:lnTo>
                  <a:cubicBezTo>
                    <a:pt x="21727542" y="0"/>
                    <a:pt x="21893785" y="166243"/>
                    <a:pt x="21893785" y="371348"/>
                  </a:cubicBezTo>
                  <a:lnTo>
                    <a:pt x="21893785" y="4642612"/>
                  </a:lnTo>
                  <a:cubicBezTo>
                    <a:pt x="21893785" y="4847717"/>
                    <a:pt x="21727542" y="5013960"/>
                    <a:pt x="21522437" y="5013960"/>
                  </a:cubicBezTo>
                  <a:lnTo>
                    <a:pt x="371348" y="5013960"/>
                  </a:lnTo>
                  <a:cubicBezTo>
                    <a:pt x="166243" y="5013960"/>
                    <a:pt x="0" y="4847717"/>
                    <a:pt x="0" y="4642612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93784" cy="508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Оқушы шешім жолын бақылап, ойлау логикасын меңгереді. Өз бетінше шешу — ішінара-іздеу және зерттеу әдістерінің үлесі.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Қате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CA5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Қате жауап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1070" y="2655570"/>
            <a:ext cx="16401288" cy="1752600"/>
            <a:chOff x="0" y="0"/>
            <a:chExt cx="21868384" cy="233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68385" cy="2336800"/>
            </a:xfrm>
            <a:custGeom>
              <a:avLst/>
              <a:gdLst/>
              <a:ahLst/>
              <a:cxnLst/>
              <a:rect r="r" b="b" t="t" l="l"/>
              <a:pathLst>
                <a:path h="2336800" w="21868385">
                  <a:moveTo>
                    <a:pt x="0" y="373888"/>
                  </a:moveTo>
                  <a:cubicBezTo>
                    <a:pt x="0" y="167386"/>
                    <a:pt x="167386" y="0"/>
                    <a:pt x="373888" y="0"/>
                  </a:cubicBezTo>
                  <a:lnTo>
                    <a:pt x="21494496" y="0"/>
                  </a:lnTo>
                  <a:cubicBezTo>
                    <a:pt x="21700998" y="0"/>
                    <a:pt x="21868385" y="167386"/>
                    <a:pt x="21868385" y="373888"/>
                  </a:cubicBezTo>
                  <a:lnTo>
                    <a:pt x="21868385" y="1962912"/>
                  </a:lnTo>
                  <a:cubicBezTo>
                    <a:pt x="21868385" y="2169414"/>
                    <a:pt x="21700998" y="2336800"/>
                    <a:pt x="21494496" y="2336800"/>
                  </a:cubicBezTo>
                  <a:lnTo>
                    <a:pt x="373888" y="2336800"/>
                  </a:lnTo>
                  <a:cubicBezTo>
                    <a:pt x="167386" y="2336800"/>
                    <a:pt x="0" y="2169414"/>
                    <a:pt x="0" y="1962912"/>
                  </a:cubicBezTo>
                  <a:close/>
                </a:path>
              </a:pathLst>
            </a:custGeom>
            <a:solidFill>
              <a:srgbClr val="86EFA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68384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B0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Дұрыс жауап: C. Мұғалім проблема қойып, оны шешу логикасын өзі көрсетеді, ойлау үлгісін таныстырады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545" y="4772025"/>
            <a:ext cx="16420338" cy="3417570"/>
            <a:chOff x="0" y="0"/>
            <a:chExt cx="21893784" cy="4556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93785" cy="4556760"/>
            </a:xfrm>
            <a:custGeom>
              <a:avLst/>
              <a:gdLst/>
              <a:ahLst/>
              <a:cxnLst/>
              <a:rect r="r" b="b" t="t" l="l"/>
              <a:pathLst>
                <a:path h="4556760" w="21893785">
                  <a:moveTo>
                    <a:pt x="0" y="371983"/>
                  </a:moveTo>
                  <a:cubicBezTo>
                    <a:pt x="0" y="166497"/>
                    <a:pt x="166497" y="0"/>
                    <a:pt x="371983" y="0"/>
                  </a:cubicBezTo>
                  <a:lnTo>
                    <a:pt x="21521801" y="0"/>
                  </a:lnTo>
                  <a:cubicBezTo>
                    <a:pt x="21727288" y="0"/>
                    <a:pt x="21893785" y="166497"/>
                    <a:pt x="21893785" y="371983"/>
                  </a:cubicBezTo>
                  <a:lnTo>
                    <a:pt x="21893785" y="4184777"/>
                  </a:lnTo>
                  <a:cubicBezTo>
                    <a:pt x="21893785" y="4390263"/>
                    <a:pt x="21727288" y="4556760"/>
                    <a:pt x="21521801" y="4556760"/>
                  </a:cubicBezTo>
                  <a:lnTo>
                    <a:pt x="371983" y="4556760"/>
                  </a:lnTo>
                  <a:cubicBezTo>
                    <a:pt x="166497" y="4556760"/>
                    <a:pt x="0" y="4390263"/>
                    <a:pt x="0" y="4184777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893784" cy="4623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Оқушы шешім жолын бақылап, ойлау логикасын меңгереді. Өз бетінше шешу — ішінара-іздеу және зерттеу әдістерінің үлесі.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1480" y="192024"/>
            <a:ext cx="795528" cy="740664"/>
            <a:chOff x="0" y="0"/>
            <a:chExt cx="1060704" cy="987552"/>
          </a:xfrm>
        </p:grpSpPr>
        <p:sp>
          <p:nvSpPr>
            <p:cNvPr name="Freeform 4" id="4" descr="Асқабақ"/>
            <p:cNvSpPr/>
            <p:nvPr/>
          </p:nvSpPr>
          <p:spPr>
            <a:xfrm flipH="false" flipV="false" rot="0">
              <a:off x="0" y="0"/>
              <a:ext cx="1060704" cy="987552"/>
            </a:xfrm>
            <a:custGeom>
              <a:avLst/>
              <a:gdLst/>
              <a:ahLst/>
              <a:cxnLst/>
              <a:rect r="r" b="b" t="t" l="l"/>
              <a:pathLst>
                <a:path h="987552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2" r="0" b="-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92024"/>
            <a:ext cx="8229600" cy="754380"/>
            <a:chOff x="0" y="0"/>
            <a:chExt cx="1097280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0972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Оқыту әдістері: Түнгі жорық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0" y="219456"/>
            <a:ext cx="3977640" cy="685800"/>
            <a:chOff x="0" y="0"/>
            <a:chExt cx="530352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3035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960"/>
                </a:lnSpc>
              </a:pPr>
              <a:r>
                <a:rPr lang="en-US" sz="33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5 / 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61745" y="163449"/>
            <a:ext cx="3897630" cy="825246"/>
            <a:chOff x="0" y="0"/>
            <a:chExt cx="5196840" cy="1100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96840" cy="1100328"/>
            </a:xfrm>
            <a:custGeom>
              <a:avLst/>
              <a:gdLst/>
              <a:ahLst/>
              <a:cxnLst/>
              <a:rect r="r" b="b" t="t" l="l"/>
              <a:pathLst>
                <a:path h="1100328" w="5196840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705604" y="0"/>
                  </a:lnTo>
                  <a:cubicBezTo>
                    <a:pt x="4976876" y="0"/>
                    <a:pt x="5196840" y="219964"/>
                    <a:pt x="5196840" y="491236"/>
                  </a:cubicBezTo>
                  <a:lnTo>
                    <a:pt x="5196840" y="609092"/>
                  </a:lnTo>
                  <a:cubicBezTo>
                    <a:pt x="5196840" y="880364"/>
                    <a:pt x="4976876" y="1100328"/>
                    <a:pt x="4705604" y="1100328"/>
                  </a:cubicBezTo>
                  <a:lnTo>
                    <a:pt x="491236" y="1100328"/>
                  </a:lnTo>
                  <a:cubicBezTo>
                    <a:pt x="219964" y="1100328"/>
                    <a:pt x="0" y="880364"/>
                    <a:pt x="0" y="609092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196840" cy="116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Сұрақты ашу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70586" y="8133340"/>
            <a:ext cx="1154430" cy="1154430"/>
            <a:chOff x="0" y="0"/>
            <a:chExt cx="1539240" cy="1539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53392" y="5352707"/>
            <a:ext cx="1154430" cy="1154430"/>
            <a:chOff x="0" y="0"/>
            <a:chExt cx="1539240" cy="1539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07585" y="3746935"/>
            <a:ext cx="1154430" cy="1154430"/>
            <a:chOff x="0" y="0"/>
            <a:chExt cx="1539240" cy="1539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36800" y="5100695"/>
            <a:ext cx="1154430" cy="1154430"/>
            <a:chOff x="0" y="0"/>
            <a:chExt cx="1539240" cy="1539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17950" y="7118890"/>
            <a:ext cx="1192530" cy="1192530"/>
            <a:chOff x="0" y="0"/>
            <a:chExt cx="1590040" cy="1590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90040" cy="1590040"/>
            </a:xfrm>
            <a:custGeom>
              <a:avLst/>
              <a:gdLst/>
              <a:ahLst/>
              <a:cxnLst/>
              <a:rect r="r" b="b" t="t" l="l"/>
              <a:pathLst>
                <a:path h="1590040" w="1590040">
                  <a:moveTo>
                    <a:pt x="0" y="278257"/>
                  </a:moveTo>
                  <a:cubicBezTo>
                    <a:pt x="0" y="124587"/>
                    <a:pt x="124587" y="0"/>
                    <a:pt x="278257" y="0"/>
                  </a:cubicBezTo>
                  <a:lnTo>
                    <a:pt x="1311783" y="0"/>
                  </a:lnTo>
                  <a:cubicBezTo>
                    <a:pt x="1465453" y="0"/>
                    <a:pt x="1590040" y="124587"/>
                    <a:pt x="1590040" y="278257"/>
                  </a:cubicBezTo>
                  <a:lnTo>
                    <a:pt x="1590040" y="1311783"/>
                  </a:lnTo>
                  <a:cubicBezTo>
                    <a:pt x="1590040" y="1465453"/>
                    <a:pt x="1465453" y="1590040"/>
                    <a:pt x="1311783" y="1590040"/>
                  </a:cubicBezTo>
                  <a:lnTo>
                    <a:pt x="278257" y="1590040"/>
                  </a:lnTo>
                  <a:cubicBezTo>
                    <a:pt x="124587" y="1590040"/>
                    <a:pt x="0" y="1465453"/>
                    <a:pt x="0" y="1311783"/>
                  </a:cubicBezTo>
                  <a:close/>
                </a:path>
              </a:pathLst>
            </a:custGeom>
            <a:solidFill>
              <a:srgbClr val="FFB347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590040" cy="167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19867" y="5706599"/>
            <a:ext cx="1154430" cy="1154430"/>
            <a:chOff x="0" y="0"/>
            <a:chExt cx="1539240" cy="1539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94872" y="2891514"/>
            <a:ext cx="1154430" cy="1154430"/>
            <a:chOff x="0" y="0"/>
            <a:chExt cx="1539240" cy="1539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87571" y="2456831"/>
            <a:ext cx="1154430" cy="1154430"/>
            <a:chOff x="0" y="0"/>
            <a:chExt cx="1539240" cy="1539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905328" y="5122545"/>
            <a:ext cx="1154430" cy="1154430"/>
            <a:chOff x="0" y="0"/>
            <a:chExt cx="1539240" cy="1539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08849" y="7818511"/>
            <a:ext cx="1154430" cy="1154430"/>
            <a:chOff x="0" y="0"/>
            <a:chExt cx="1539240" cy="1539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4841" y="9327775"/>
            <a:ext cx="1645920" cy="480060"/>
            <a:chOff x="0" y="0"/>
            <a:chExt cx="219456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945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Старт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796995" y="5863495"/>
            <a:ext cx="1207008" cy="1234440"/>
            <a:chOff x="0" y="0"/>
            <a:chExt cx="1609344" cy="1645920"/>
          </a:xfrm>
        </p:grpSpPr>
        <p:sp>
          <p:nvSpPr>
            <p:cNvPr name="Freeform 48" id="48" descr="Сиқыршы осы жерде"/>
            <p:cNvSpPr/>
            <p:nvPr/>
          </p:nvSpPr>
          <p:spPr>
            <a:xfrm flipH="false" flipV="false" rot="0">
              <a:off x="0" y="0"/>
              <a:ext cx="160934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1" r="0" b="-121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411480"/>
            <a:ext cx="4800600" cy="617220"/>
            <a:chOff x="0" y="0"/>
            <a:chExt cx="6400800" cy="822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0800" cy="822960"/>
            </a:xfrm>
            <a:custGeom>
              <a:avLst/>
              <a:gdLst/>
              <a:ahLst/>
              <a:cxnLst/>
              <a:rect r="r" b="b" t="t" l="l"/>
              <a:pathLst>
                <a:path h="8229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400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5 / 10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0" y="342900"/>
            <a:ext cx="960120" cy="987552"/>
            <a:chOff x="0" y="0"/>
            <a:chExt cx="1280160" cy="1316736"/>
          </a:xfrm>
        </p:grpSpPr>
        <p:sp>
          <p:nvSpPr>
            <p:cNvPr name="Freeform 7" id="7" descr="Елес"/>
            <p:cNvSpPr/>
            <p:nvPr/>
          </p:nvSpPr>
          <p:spPr>
            <a:xfrm flipH="false" flipV="false" rot="0">
              <a:off x="0" y="0"/>
              <a:ext cx="12801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45" t="0" r="-224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1165860"/>
            <a:ext cx="15361920" cy="2331720"/>
            <a:chOff x="0" y="0"/>
            <a:chExt cx="20482560" cy="310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3108960"/>
            </a:xfrm>
            <a:custGeom>
              <a:avLst/>
              <a:gdLst/>
              <a:ahLst/>
              <a:cxnLst/>
              <a:rect r="r" b="b" t="t" l="l"/>
              <a:pathLst>
                <a:path h="3108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372" r="0" b="-78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0" cy="3118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Көрнекілік әдістер тобына қайсысы жатады?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4385" y="3743325"/>
            <a:ext cx="8218170" cy="2251710"/>
            <a:chOff x="0" y="0"/>
            <a:chExt cx="10957560" cy="3002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Әңгіме және дәріс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70873" y="3743325"/>
            <a:ext cx="8218170" cy="2251710"/>
            <a:chOff x="0" y="0"/>
            <a:chExt cx="10957560" cy="3002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Жаттығу және лабораториялық жұмыс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4385" y="6349365"/>
            <a:ext cx="8218170" cy="2251710"/>
            <a:chOff x="0" y="0"/>
            <a:chExt cx="10957560" cy="3002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Түсіндіру және оқулықпен жұмыс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70873" y="6349365"/>
            <a:ext cx="8218170" cy="2251710"/>
            <a:chOff x="0" y="0"/>
            <a:chExt cx="10957560" cy="3002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Иллюстрация және демонстрация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121140"/>
            <a:ext cx="8229600" cy="548640"/>
            <a:chOff x="0" y="0"/>
            <a:chExt cx="10972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1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Дұрыс жауапты басыңыз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Дұрыс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86EFA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Дұрыс!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545" y="2988945"/>
            <a:ext cx="16420338" cy="3760470"/>
            <a:chOff x="0" y="0"/>
            <a:chExt cx="21893784" cy="501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93785" cy="5013960"/>
            </a:xfrm>
            <a:custGeom>
              <a:avLst/>
              <a:gdLst/>
              <a:ahLst/>
              <a:cxnLst/>
              <a:rect r="r" b="b" t="t" l="l"/>
              <a:pathLst>
                <a:path h="5013960" w="21893785">
                  <a:moveTo>
                    <a:pt x="0" y="371348"/>
                  </a:moveTo>
                  <a:cubicBezTo>
                    <a:pt x="0" y="166243"/>
                    <a:pt x="166243" y="0"/>
                    <a:pt x="371348" y="0"/>
                  </a:cubicBezTo>
                  <a:lnTo>
                    <a:pt x="21522437" y="0"/>
                  </a:lnTo>
                  <a:cubicBezTo>
                    <a:pt x="21727542" y="0"/>
                    <a:pt x="21893785" y="166243"/>
                    <a:pt x="21893785" y="371348"/>
                  </a:cubicBezTo>
                  <a:lnTo>
                    <a:pt x="21893785" y="4642612"/>
                  </a:lnTo>
                  <a:cubicBezTo>
                    <a:pt x="21893785" y="4847717"/>
                    <a:pt x="21727542" y="5013960"/>
                    <a:pt x="21522437" y="5013960"/>
                  </a:cubicBezTo>
                  <a:lnTo>
                    <a:pt x="371348" y="5013960"/>
                  </a:lnTo>
                  <a:cubicBezTo>
                    <a:pt x="166243" y="5013960"/>
                    <a:pt x="0" y="4847717"/>
                    <a:pt x="0" y="4642612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93784" cy="508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Көрнекілік әдістер: иллюстрация (суреттер, плакаттар) және демонстрация (тәжірибе, үлгі, видео). Әңгіме мен дәріс — сөздік, жаттығу — практикалық.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Қате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CA5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Қате жауап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1070" y="2655570"/>
            <a:ext cx="16401288" cy="1752600"/>
            <a:chOff x="0" y="0"/>
            <a:chExt cx="21868384" cy="233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68385" cy="2336800"/>
            </a:xfrm>
            <a:custGeom>
              <a:avLst/>
              <a:gdLst/>
              <a:ahLst/>
              <a:cxnLst/>
              <a:rect r="r" b="b" t="t" l="l"/>
              <a:pathLst>
                <a:path h="2336800" w="21868385">
                  <a:moveTo>
                    <a:pt x="0" y="373888"/>
                  </a:moveTo>
                  <a:cubicBezTo>
                    <a:pt x="0" y="167386"/>
                    <a:pt x="167386" y="0"/>
                    <a:pt x="373888" y="0"/>
                  </a:cubicBezTo>
                  <a:lnTo>
                    <a:pt x="21494496" y="0"/>
                  </a:lnTo>
                  <a:cubicBezTo>
                    <a:pt x="21700998" y="0"/>
                    <a:pt x="21868385" y="167386"/>
                    <a:pt x="21868385" y="373888"/>
                  </a:cubicBezTo>
                  <a:lnTo>
                    <a:pt x="21868385" y="1962912"/>
                  </a:lnTo>
                  <a:cubicBezTo>
                    <a:pt x="21868385" y="2169414"/>
                    <a:pt x="21700998" y="2336800"/>
                    <a:pt x="21494496" y="2336800"/>
                  </a:cubicBezTo>
                  <a:lnTo>
                    <a:pt x="373888" y="2336800"/>
                  </a:lnTo>
                  <a:cubicBezTo>
                    <a:pt x="167386" y="2336800"/>
                    <a:pt x="0" y="2169414"/>
                    <a:pt x="0" y="1962912"/>
                  </a:cubicBezTo>
                  <a:close/>
                </a:path>
              </a:pathLst>
            </a:custGeom>
            <a:solidFill>
              <a:srgbClr val="86EFA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68384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B0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Дұрыс жауап: D. Иллюстрация және демонстрация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545" y="4772025"/>
            <a:ext cx="16420338" cy="3417570"/>
            <a:chOff x="0" y="0"/>
            <a:chExt cx="21893784" cy="4556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93785" cy="4556760"/>
            </a:xfrm>
            <a:custGeom>
              <a:avLst/>
              <a:gdLst/>
              <a:ahLst/>
              <a:cxnLst/>
              <a:rect r="r" b="b" t="t" l="l"/>
              <a:pathLst>
                <a:path h="4556760" w="21893785">
                  <a:moveTo>
                    <a:pt x="0" y="371983"/>
                  </a:moveTo>
                  <a:cubicBezTo>
                    <a:pt x="0" y="166497"/>
                    <a:pt x="166497" y="0"/>
                    <a:pt x="371983" y="0"/>
                  </a:cubicBezTo>
                  <a:lnTo>
                    <a:pt x="21521801" y="0"/>
                  </a:lnTo>
                  <a:cubicBezTo>
                    <a:pt x="21727288" y="0"/>
                    <a:pt x="21893785" y="166497"/>
                    <a:pt x="21893785" y="371983"/>
                  </a:cubicBezTo>
                  <a:lnTo>
                    <a:pt x="21893785" y="4184777"/>
                  </a:lnTo>
                  <a:cubicBezTo>
                    <a:pt x="21893785" y="4390263"/>
                    <a:pt x="21727288" y="4556760"/>
                    <a:pt x="21521801" y="4556760"/>
                  </a:cubicBezTo>
                  <a:lnTo>
                    <a:pt x="371983" y="4556760"/>
                  </a:lnTo>
                  <a:cubicBezTo>
                    <a:pt x="166497" y="4556760"/>
                    <a:pt x="0" y="4390263"/>
                    <a:pt x="0" y="4184777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893784" cy="4623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Көрнекілік әдістер: иллюстрация (суреттер, плакаттар) және демонстрация (тәжірибе, үлгі, видео). Әңгіме мен дәріс — сөздік, жаттығу — практикалық.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1480" y="192024"/>
            <a:ext cx="795528" cy="740664"/>
            <a:chOff x="0" y="0"/>
            <a:chExt cx="1060704" cy="987552"/>
          </a:xfrm>
        </p:grpSpPr>
        <p:sp>
          <p:nvSpPr>
            <p:cNvPr name="Freeform 4" id="4" descr="Асқабақ"/>
            <p:cNvSpPr/>
            <p:nvPr/>
          </p:nvSpPr>
          <p:spPr>
            <a:xfrm flipH="false" flipV="false" rot="0">
              <a:off x="0" y="0"/>
              <a:ext cx="1060704" cy="987552"/>
            </a:xfrm>
            <a:custGeom>
              <a:avLst/>
              <a:gdLst/>
              <a:ahLst/>
              <a:cxnLst/>
              <a:rect r="r" b="b" t="t" l="l"/>
              <a:pathLst>
                <a:path h="987552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2" r="0" b="-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92024"/>
            <a:ext cx="8229600" cy="754380"/>
            <a:chOff x="0" y="0"/>
            <a:chExt cx="1097280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0972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Оқыту әдістері: Түнгі жорық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0" y="219456"/>
            <a:ext cx="3977640" cy="685800"/>
            <a:chOff x="0" y="0"/>
            <a:chExt cx="530352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3035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960"/>
                </a:lnSpc>
              </a:pPr>
              <a:r>
                <a:rPr lang="en-US" sz="33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6 / 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61745" y="163449"/>
            <a:ext cx="3897630" cy="825246"/>
            <a:chOff x="0" y="0"/>
            <a:chExt cx="5196840" cy="1100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96840" cy="1100328"/>
            </a:xfrm>
            <a:custGeom>
              <a:avLst/>
              <a:gdLst/>
              <a:ahLst/>
              <a:cxnLst/>
              <a:rect r="r" b="b" t="t" l="l"/>
              <a:pathLst>
                <a:path h="1100328" w="5196840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705604" y="0"/>
                  </a:lnTo>
                  <a:cubicBezTo>
                    <a:pt x="4976876" y="0"/>
                    <a:pt x="5196840" y="219964"/>
                    <a:pt x="5196840" y="491236"/>
                  </a:cubicBezTo>
                  <a:lnTo>
                    <a:pt x="5196840" y="609092"/>
                  </a:lnTo>
                  <a:cubicBezTo>
                    <a:pt x="5196840" y="880364"/>
                    <a:pt x="4976876" y="1100328"/>
                    <a:pt x="4705604" y="1100328"/>
                  </a:cubicBezTo>
                  <a:lnTo>
                    <a:pt x="491236" y="1100328"/>
                  </a:lnTo>
                  <a:cubicBezTo>
                    <a:pt x="219964" y="1100328"/>
                    <a:pt x="0" y="880364"/>
                    <a:pt x="0" y="609092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196840" cy="116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Сұрақты ашу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70586" y="8133340"/>
            <a:ext cx="1154430" cy="1154430"/>
            <a:chOff x="0" y="0"/>
            <a:chExt cx="1539240" cy="1539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53392" y="5352707"/>
            <a:ext cx="1154430" cy="1154430"/>
            <a:chOff x="0" y="0"/>
            <a:chExt cx="1539240" cy="1539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07585" y="3746935"/>
            <a:ext cx="1154430" cy="1154430"/>
            <a:chOff x="0" y="0"/>
            <a:chExt cx="1539240" cy="1539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36800" y="5100695"/>
            <a:ext cx="1154430" cy="1154430"/>
            <a:chOff x="0" y="0"/>
            <a:chExt cx="1539240" cy="1539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37000" y="7137940"/>
            <a:ext cx="1154430" cy="1154430"/>
            <a:chOff x="0" y="0"/>
            <a:chExt cx="1539240" cy="1539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00817" y="5687549"/>
            <a:ext cx="1192530" cy="1192530"/>
            <a:chOff x="0" y="0"/>
            <a:chExt cx="1590040" cy="1590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90040" cy="1590040"/>
            </a:xfrm>
            <a:custGeom>
              <a:avLst/>
              <a:gdLst/>
              <a:ahLst/>
              <a:cxnLst/>
              <a:rect r="r" b="b" t="t" l="l"/>
              <a:pathLst>
                <a:path h="1590040" w="1590040">
                  <a:moveTo>
                    <a:pt x="0" y="278257"/>
                  </a:moveTo>
                  <a:cubicBezTo>
                    <a:pt x="0" y="124587"/>
                    <a:pt x="124587" y="0"/>
                    <a:pt x="278257" y="0"/>
                  </a:cubicBezTo>
                  <a:lnTo>
                    <a:pt x="1311783" y="0"/>
                  </a:lnTo>
                  <a:cubicBezTo>
                    <a:pt x="1465453" y="0"/>
                    <a:pt x="1590040" y="124587"/>
                    <a:pt x="1590040" y="278257"/>
                  </a:cubicBezTo>
                  <a:lnTo>
                    <a:pt x="1590040" y="1311783"/>
                  </a:lnTo>
                  <a:cubicBezTo>
                    <a:pt x="1590040" y="1465453"/>
                    <a:pt x="1465453" y="1590040"/>
                    <a:pt x="1311783" y="1590040"/>
                  </a:cubicBezTo>
                  <a:lnTo>
                    <a:pt x="278257" y="1590040"/>
                  </a:lnTo>
                  <a:cubicBezTo>
                    <a:pt x="124587" y="1590040"/>
                    <a:pt x="0" y="1465453"/>
                    <a:pt x="0" y="1311783"/>
                  </a:cubicBezTo>
                  <a:close/>
                </a:path>
              </a:pathLst>
            </a:custGeom>
            <a:solidFill>
              <a:srgbClr val="FFB347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590040" cy="167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94872" y="2891514"/>
            <a:ext cx="1154430" cy="1154430"/>
            <a:chOff x="0" y="0"/>
            <a:chExt cx="1539240" cy="1539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87571" y="2456831"/>
            <a:ext cx="1154430" cy="1154430"/>
            <a:chOff x="0" y="0"/>
            <a:chExt cx="1539240" cy="1539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905328" y="5122545"/>
            <a:ext cx="1154430" cy="1154430"/>
            <a:chOff x="0" y="0"/>
            <a:chExt cx="1539240" cy="1539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08849" y="7818511"/>
            <a:ext cx="1154430" cy="1154430"/>
            <a:chOff x="0" y="0"/>
            <a:chExt cx="1539240" cy="1539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4841" y="9327775"/>
            <a:ext cx="1645920" cy="480060"/>
            <a:chOff x="0" y="0"/>
            <a:chExt cx="219456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945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Старт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779862" y="4432154"/>
            <a:ext cx="1207008" cy="1234440"/>
            <a:chOff x="0" y="0"/>
            <a:chExt cx="1609344" cy="1645920"/>
          </a:xfrm>
        </p:grpSpPr>
        <p:sp>
          <p:nvSpPr>
            <p:cNvPr name="Freeform 48" id="48" descr="Сиқыршы осы жерде"/>
            <p:cNvSpPr/>
            <p:nvPr/>
          </p:nvSpPr>
          <p:spPr>
            <a:xfrm flipH="false" flipV="false" rot="0">
              <a:off x="0" y="0"/>
              <a:ext cx="160934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1" r="0" b="-121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411480"/>
            <a:ext cx="4800600" cy="617220"/>
            <a:chOff x="0" y="0"/>
            <a:chExt cx="6400800" cy="822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0800" cy="822960"/>
            </a:xfrm>
            <a:custGeom>
              <a:avLst/>
              <a:gdLst/>
              <a:ahLst/>
              <a:cxnLst/>
              <a:rect r="r" b="b" t="t" l="l"/>
              <a:pathLst>
                <a:path h="8229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400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6 / 10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0" y="342900"/>
            <a:ext cx="960120" cy="987552"/>
            <a:chOff x="0" y="0"/>
            <a:chExt cx="1280160" cy="1316736"/>
          </a:xfrm>
        </p:grpSpPr>
        <p:sp>
          <p:nvSpPr>
            <p:cNvPr name="Freeform 7" id="7" descr="Елес"/>
            <p:cNvSpPr/>
            <p:nvPr/>
          </p:nvSpPr>
          <p:spPr>
            <a:xfrm flipH="false" flipV="false" rot="0">
              <a:off x="0" y="0"/>
              <a:ext cx="12801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45" t="0" r="-224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1165860"/>
            <a:ext cx="15361920" cy="2331720"/>
            <a:chOff x="0" y="0"/>
            <a:chExt cx="20482560" cy="310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3108960"/>
            </a:xfrm>
            <a:custGeom>
              <a:avLst/>
              <a:gdLst/>
              <a:ahLst/>
              <a:cxnLst/>
              <a:rect r="r" b="b" t="t" l="l"/>
              <a:pathLst>
                <a:path h="3108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372" r="0" b="-78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0" cy="3118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Ю.К. Бабанскийдің жіктемесі бойынша оқыту әдістерінің үш тобы қайсы?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4385" y="3743325"/>
            <a:ext cx="8218170" cy="2251710"/>
            <a:chOff x="0" y="0"/>
            <a:chExt cx="10957560" cy="3002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Сөздік, көрнекілік, практикалық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70873" y="3743325"/>
            <a:ext cx="8218170" cy="2251710"/>
            <a:chOff x="0" y="0"/>
            <a:chExt cx="10957560" cy="3002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Ұйымдастыру-әрекеттік, ынталандыру-уәждеу, бақылау-бағалау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4385" y="6349365"/>
            <a:ext cx="8218170" cy="2251710"/>
            <a:chOff x="0" y="0"/>
            <a:chExt cx="10957560" cy="3002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Репродуктивті, эвристикалық, зерттеу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70873" y="6349365"/>
            <a:ext cx="8218170" cy="2251710"/>
            <a:chOff x="0" y="0"/>
            <a:chExt cx="10957560" cy="3002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Индуктивті, дедуктивті, аналитикалық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121140"/>
            <a:ext cx="8229600" cy="548640"/>
            <a:chOff x="0" y="0"/>
            <a:chExt cx="10972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1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Дұрыс жауапты басыңыз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Дұрыс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86EFA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Дұрыс!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545" y="2988945"/>
            <a:ext cx="16420338" cy="3760470"/>
            <a:chOff x="0" y="0"/>
            <a:chExt cx="21893784" cy="501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93785" cy="5013960"/>
            </a:xfrm>
            <a:custGeom>
              <a:avLst/>
              <a:gdLst/>
              <a:ahLst/>
              <a:cxnLst/>
              <a:rect r="r" b="b" t="t" l="l"/>
              <a:pathLst>
                <a:path h="5013960" w="21893785">
                  <a:moveTo>
                    <a:pt x="0" y="371348"/>
                  </a:moveTo>
                  <a:cubicBezTo>
                    <a:pt x="0" y="166243"/>
                    <a:pt x="166243" y="0"/>
                    <a:pt x="371348" y="0"/>
                  </a:cubicBezTo>
                  <a:lnTo>
                    <a:pt x="21522437" y="0"/>
                  </a:lnTo>
                  <a:cubicBezTo>
                    <a:pt x="21727542" y="0"/>
                    <a:pt x="21893785" y="166243"/>
                    <a:pt x="21893785" y="371348"/>
                  </a:cubicBezTo>
                  <a:lnTo>
                    <a:pt x="21893785" y="4642612"/>
                  </a:lnTo>
                  <a:cubicBezTo>
                    <a:pt x="21893785" y="4847717"/>
                    <a:pt x="21727542" y="5013960"/>
                    <a:pt x="21522437" y="5013960"/>
                  </a:cubicBezTo>
                  <a:lnTo>
                    <a:pt x="371348" y="5013960"/>
                  </a:lnTo>
                  <a:cubicBezTo>
                    <a:pt x="166243" y="5013960"/>
                    <a:pt x="0" y="4847717"/>
                    <a:pt x="0" y="4642612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93784" cy="508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Бабанский оқу іс-әрекетін ұйымдастыру, оны ынталандыру және бақылау-бағалау әдістерін бөліп көрсетті, яғни оқу процесінің құрылымына сүйенді.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Қате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CA5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Қате жауап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1070" y="2655570"/>
            <a:ext cx="16401288" cy="1752600"/>
            <a:chOff x="0" y="0"/>
            <a:chExt cx="21868384" cy="233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68385" cy="2336800"/>
            </a:xfrm>
            <a:custGeom>
              <a:avLst/>
              <a:gdLst/>
              <a:ahLst/>
              <a:cxnLst/>
              <a:rect r="r" b="b" t="t" l="l"/>
              <a:pathLst>
                <a:path h="2336800" w="21868385">
                  <a:moveTo>
                    <a:pt x="0" y="373888"/>
                  </a:moveTo>
                  <a:cubicBezTo>
                    <a:pt x="0" y="167386"/>
                    <a:pt x="167386" y="0"/>
                    <a:pt x="373888" y="0"/>
                  </a:cubicBezTo>
                  <a:lnTo>
                    <a:pt x="21494496" y="0"/>
                  </a:lnTo>
                  <a:cubicBezTo>
                    <a:pt x="21700998" y="0"/>
                    <a:pt x="21868385" y="167386"/>
                    <a:pt x="21868385" y="373888"/>
                  </a:cubicBezTo>
                  <a:lnTo>
                    <a:pt x="21868385" y="1962912"/>
                  </a:lnTo>
                  <a:cubicBezTo>
                    <a:pt x="21868385" y="2169414"/>
                    <a:pt x="21700998" y="2336800"/>
                    <a:pt x="21494496" y="2336800"/>
                  </a:cubicBezTo>
                  <a:lnTo>
                    <a:pt x="373888" y="2336800"/>
                  </a:lnTo>
                  <a:cubicBezTo>
                    <a:pt x="167386" y="2336800"/>
                    <a:pt x="0" y="2169414"/>
                    <a:pt x="0" y="1962912"/>
                  </a:cubicBezTo>
                  <a:close/>
                </a:path>
              </a:pathLst>
            </a:custGeom>
            <a:solidFill>
              <a:srgbClr val="86EFA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68384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B0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Дұрыс жауап: B. Ұйымдастыру-әрекеттік, ынталандыру-уәждеу, бақылау-бағалау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545" y="4772025"/>
            <a:ext cx="16420338" cy="3417570"/>
            <a:chOff x="0" y="0"/>
            <a:chExt cx="21893784" cy="4556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93785" cy="4556760"/>
            </a:xfrm>
            <a:custGeom>
              <a:avLst/>
              <a:gdLst/>
              <a:ahLst/>
              <a:cxnLst/>
              <a:rect r="r" b="b" t="t" l="l"/>
              <a:pathLst>
                <a:path h="4556760" w="21893785">
                  <a:moveTo>
                    <a:pt x="0" y="371983"/>
                  </a:moveTo>
                  <a:cubicBezTo>
                    <a:pt x="0" y="166497"/>
                    <a:pt x="166497" y="0"/>
                    <a:pt x="371983" y="0"/>
                  </a:cubicBezTo>
                  <a:lnTo>
                    <a:pt x="21521801" y="0"/>
                  </a:lnTo>
                  <a:cubicBezTo>
                    <a:pt x="21727288" y="0"/>
                    <a:pt x="21893785" y="166497"/>
                    <a:pt x="21893785" y="371983"/>
                  </a:cubicBezTo>
                  <a:lnTo>
                    <a:pt x="21893785" y="4184777"/>
                  </a:lnTo>
                  <a:cubicBezTo>
                    <a:pt x="21893785" y="4390263"/>
                    <a:pt x="21727288" y="4556760"/>
                    <a:pt x="21521801" y="4556760"/>
                  </a:cubicBezTo>
                  <a:lnTo>
                    <a:pt x="371983" y="4556760"/>
                  </a:lnTo>
                  <a:cubicBezTo>
                    <a:pt x="166497" y="4556760"/>
                    <a:pt x="0" y="4390263"/>
                    <a:pt x="0" y="4184777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893784" cy="4623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Бабанский оқу іс-әрекетін ұйымдастыру, оны ынталандыру және бақылау-бағалау әдістерін бөліп көрсетті, яғни оқу процесінің құрылымына сүйенді.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1480" y="192024"/>
            <a:ext cx="795528" cy="740664"/>
            <a:chOff x="0" y="0"/>
            <a:chExt cx="1060704" cy="987552"/>
          </a:xfrm>
        </p:grpSpPr>
        <p:sp>
          <p:nvSpPr>
            <p:cNvPr name="Freeform 4" id="4" descr="Асқабақ"/>
            <p:cNvSpPr/>
            <p:nvPr/>
          </p:nvSpPr>
          <p:spPr>
            <a:xfrm flipH="false" flipV="false" rot="0">
              <a:off x="0" y="0"/>
              <a:ext cx="1060704" cy="987552"/>
            </a:xfrm>
            <a:custGeom>
              <a:avLst/>
              <a:gdLst/>
              <a:ahLst/>
              <a:cxnLst/>
              <a:rect r="r" b="b" t="t" l="l"/>
              <a:pathLst>
                <a:path h="987552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2" r="0" b="-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92024"/>
            <a:ext cx="8229600" cy="754380"/>
            <a:chOff x="0" y="0"/>
            <a:chExt cx="1097280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0972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Оқыту әдістері: Түнгі жорық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0" y="219456"/>
            <a:ext cx="3977640" cy="685800"/>
            <a:chOff x="0" y="0"/>
            <a:chExt cx="530352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3035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960"/>
                </a:lnSpc>
              </a:pPr>
              <a:r>
                <a:rPr lang="en-US" sz="33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7 / 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61745" y="163449"/>
            <a:ext cx="3897630" cy="825246"/>
            <a:chOff x="0" y="0"/>
            <a:chExt cx="5196840" cy="1100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96840" cy="1100328"/>
            </a:xfrm>
            <a:custGeom>
              <a:avLst/>
              <a:gdLst/>
              <a:ahLst/>
              <a:cxnLst/>
              <a:rect r="r" b="b" t="t" l="l"/>
              <a:pathLst>
                <a:path h="1100328" w="5196840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705604" y="0"/>
                  </a:lnTo>
                  <a:cubicBezTo>
                    <a:pt x="4976876" y="0"/>
                    <a:pt x="5196840" y="219964"/>
                    <a:pt x="5196840" y="491236"/>
                  </a:cubicBezTo>
                  <a:lnTo>
                    <a:pt x="5196840" y="609092"/>
                  </a:lnTo>
                  <a:cubicBezTo>
                    <a:pt x="5196840" y="880364"/>
                    <a:pt x="4976876" y="1100328"/>
                    <a:pt x="4705604" y="1100328"/>
                  </a:cubicBezTo>
                  <a:lnTo>
                    <a:pt x="491236" y="1100328"/>
                  </a:lnTo>
                  <a:cubicBezTo>
                    <a:pt x="219964" y="1100328"/>
                    <a:pt x="0" y="880364"/>
                    <a:pt x="0" y="609092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196840" cy="116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Сұрақты ашу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70586" y="8133340"/>
            <a:ext cx="1154430" cy="1154430"/>
            <a:chOff x="0" y="0"/>
            <a:chExt cx="1539240" cy="1539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53392" y="5352707"/>
            <a:ext cx="1154430" cy="1154430"/>
            <a:chOff x="0" y="0"/>
            <a:chExt cx="1539240" cy="1539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07585" y="3746935"/>
            <a:ext cx="1154430" cy="1154430"/>
            <a:chOff x="0" y="0"/>
            <a:chExt cx="1539240" cy="1539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36800" y="5100695"/>
            <a:ext cx="1154430" cy="1154430"/>
            <a:chOff x="0" y="0"/>
            <a:chExt cx="1539240" cy="1539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37000" y="7137940"/>
            <a:ext cx="1154430" cy="1154430"/>
            <a:chOff x="0" y="0"/>
            <a:chExt cx="1539240" cy="1539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19867" y="5706599"/>
            <a:ext cx="1154430" cy="1154430"/>
            <a:chOff x="0" y="0"/>
            <a:chExt cx="1539240" cy="1539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75822" y="2872464"/>
            <a:ext cx="1192530" cy="1192530"/>
            <a:chOff x="0" y="0"/>
            <a:chExt cx="1590040" cy="1590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90040" cy="1590040"/>
            </a:xfrm>
            <a:custGeom>
              <a:avLst/>
              <a:gdLst/>
              <a:ahLst/>
              <a:cxnLst/>
              <a:rect r="r" b="b" t="t" l="l"/>
              <a:pathLst>
                <a:path h="1590040" w="1590040">
                  <a:moveTo>
                    <a:pt x="0" y="278257"/>
                  </a:moveTo>
                  <a:cubicBezTo>
                    <a:pt x="0" y="124587"/>
                    <a:pt x="124587" y="0"/>
                    <a:pt x="278257" y="0"/>
                  </a:cubicBezTo>
                  <a:lnTo>
                    <a:pt x="1311783" y="0"/>
                  </a:lnTo>
                  <a:cubicBezTo>
                    <a:pt x="1465453" y="0"/>
                    <a:pt x="1590040" y="124587"/>
                    <a:pt x="1590040" y="278257"/>
                  </a:cubicBezTo>
                  <a:lnTo>
                    <a:pt x="1590040" y="1311783"/>
                  </a:lnTo>
                  <a:cubicBezTo>
                    <a:pt x="1590040" y="1465453"/>
                    <a:pt x="1465453" y="1590040"/>
                    <a:pt x="1311783" y="1590040"/>
                  </a:cubicBezTo>
                  <a:lnTo>
                    <a:pt x="278257" y="1590040"/>
                  </a:lnTo>
                  <a:cubicBezTo>
                    <a:pt x="124587" y="1590040"/>
                    <a:pt x="0" y="1465453"/>
                    <a:pt x="0" y="1311783"/>
                  </a:cubicBezTo>
                  <a:close/>
                </a:path>
              </a:pathLst>
            </a:custGeom>
            <a:solidFill>
              <a:srgbClr val="FFB347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590040" cy="167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87571" y="2456831"/>
            <a:ext cx="1154430" cy="1154430"/>
            <a:chOff x="0" y="0"/>
            <a:chExt cx="1539240" cy="1539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905328" y="5122545"/>
            <a:ext cx="1154430" cy="1154430"/>
            <a:chOff x="0" y="0"/>
            <a:chExt cx="1539240" cy="1539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08849" y="7818511"/>
            <a:ext cx="1154430" cy="1154430"/>
            <a:chOff x="0" y="0"/>
            <a:chExt cx="1539240" cy="1539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4841" y="9327775"/>
            <a:ext cx="1645920" cy="480060"/>
            <a:chOff x="0" y="0"/>
            <a:chExt cx="219456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945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Старт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054867" y="1617069"/>
            <a:ext cx="1207008" cy="1234440"/>
            <a:chOff x="0" y="0"/>
            <a:chExt cx="1609344" cy="1645920"/>
          </a:xfrm>
        </p:grpSpPr>
        <p:sp>
          <p:nvSpPr>
            <p:cNvPr name="Freeform 48" id="48" descr="Сиқыршы осы жерде"/>
            <p:cNvSpPr/>
            <p:nvPr/>
          </p:nvSpPr>
          <p:spPr>
            <a:xfrm flipH="false" flipV="false" rot="0">
              <a:off x="0" y="0"/>
              <a:ext cx="160934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1" r="0" b="-121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411480"/>
            <a:ext cx="4800600" cy="617220"/>
            <a:chOff x="0" y="0"/>
            <a:chExt cx="6400800" cy="822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0800" cy="822960"/>
            </a:xfrm>
            <a:custGeom>
              <a:avLst/>
              <a:gdLst/>
              <a:ahLst/>
              <a:cxnLst/>
              <a:rect r="r" b="b" t="t" l="l"/>
              <a:pathLst>
                <a:path h="8229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400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7 / 10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0" y="342900"/>
            <a:ext cx="960120" cy="987552"/>
            <a:chOff x="0" y="0"/>
            <a:chExt cx="1280160" cy="1316736"/>
          </a:xfrm>
        </p:grpSpPr>
        <p:sp>
          <p:nvSpPr>
            <p:cNvPr name="Freeform 7" id="7" descr="Елес"/>
            <p:cNvSpPr/>
            <p:nvPr/>
          </p:nvSpPr>
          <p:spPr>
            <a:xfrm flipH="false" flipV="false" rot="0">
              <a:off x="0" y="0"/>
              <a:ext cx="12801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45" t="0" r="-224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1165860"/>
            <a:ext cx="15361920" cy="2331720"/>
            <a:chOff x="0" y="0"/>
            <a:chExt cx="20482560" cy="310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3108960"/>
            </a:xfrm>
            <a:custGeom>
              <a:avLst/>
              <a:gdLst/>
              <a:ahLst/>
              <a:cxnLst/>
              <a:rect r="r" b="b" t="t" l="l"/>
              <a:pathLst>
                <a:path h="3108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372" r="0" b="-78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0" cy="3118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Төмендегілердің қайсысы белсенді (интерактивті) оқыту әдісіне жатады?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4385" y="3743325"/>
            <a:ext cx="8218170" cy="2251710"/>
            <a:chOff x="0" y="0"/>
            <a:chExt cx="10957560" cy="3002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Кейс-стади (нақты жағдайды топта талдау)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70873" y="3743325"/>
            <a:ext cx="8218170" cy="2251710"/>
            <a:chOff x="0" y="0"/>
            <a:chExt cx="10957560" cy="3002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Дәріс-монолог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4385" y="6349365"/>
            <a:ext cx="8218170" cy="2251710"/>
            <a:chOff x="0" y="0"/>
            <a:chExt cx="10957560" cy="3002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Мәтінді көшіріп жазу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70873" y="6349365"/>
            <a:ext cx="8218170" cy="2251710"/>
            <a:chOff x="0" y="0"/>
            <a:chExt cx="10957560" cy="3002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Ережені жаттап айту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121140"/>
            <a:ext cx="8229600" cy="548640"/>
            <a:chOff x="0" y="0"/>
            <a:chExt cx="10972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1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Дұрыс жауапты басыңыз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Дұрыс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86EFA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Дұрыс!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545" y="2988945"/>
            <a:ext cx="16420338" cy="3760470"/>
            <a:chOff x="0" y="0"/>
            <a:chExt cx="21893784" cy="501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93785" cy="5013960"/>
            </a:xfrm>
            <a:custGeom>
              <a:avLst/>
              <a:gdLst/>
              <a:ahLst/>
              <a:cxnLst/>
              <a:rect r="r" b="b" t="t" l="l"/>
              <a:pathLst>
                <a:path h="5013960" w="21893785">
                  <a:moveTo>
                    <a:pt x="0" y="371348"/>
                  </a:moveTo>
                  <a:cubicBezTo>
                    <a:pt x="0" y="166243"/>
                    <a:pt x="166243" y="0"/>
                    <a:pt x="371348" y="0"/>
                  </a:cubicBezTo>
                  <a:lnTo>
                    <a:pt x="21522437" y="0"/>
                  </a:lnTo>
                  <a:cubicBezTo>
                    <a:pt x="21727542" y="0"/>
                    <a:pt x="21893785" y="166243"/>
                    <a:pt x="21893785" y="371348"/>
                  </a:cubicBezTo>
                  <a:lnTo>
                    <a:pt x="21893785" y="4642612"/>
                  </a:lnTo>
                  <a:cubicBezTo>
                    <a:pt x="21893785" y="4847717"/>
                    <a:pt x="21727542" y="5013960"/>
                    <a:pt x="21522437" y="5013960"/>
                  </a:cubicBezTo>
                  <a:lnTo>
                    <a:pt x="371348" y="5013960"/>
                  </a:lnTo>
                  <a:cubicBezTo>
                    <a:pt x="166243" y="5013960"/>
                    <a:pt x="0" y="4847717"/>
                    <a:pt x="0" y="4642612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93784" cy="508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Интерактивті әдістерде оқушылар бір-бірімен және мұғаліммен өзара әрекеттеседі: талқылайды, талдайды, шешім табады.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Қате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CA5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Қате жауап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1070" y="2655570"/>
            <a:ext cx="16401288" cy="1752600"/>
            <a:chOff x="0" y="0"/>
            <a:chExt cx="21868384" cy="233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68385" cy="2336800"/>
            </a:xfrm>
            <a:custGeom>
              <a:avLst/>
              <a:gdLst/>
              <a:ahLst/>
              <a:cxnLst/>
              <a:rect r="r" b="b" t="t" l="l"/>
              <a:pathLst>
                <a:path h="2336800" w="21868385">
                  <a:moveTo>
                    <a:pt x="0" y="373888"/>
                  </a:moveTo>
                  <a:cubicBezTo>
                    <a:pt x="0" y="167386"/>
                    <a:pt x="167386" y="0"/>
                    <a:pt x="373888" y="0"/>
                  </a:cubicBezTo>
                  <a:lnTo>
                    <a:pt x="21494496" y="0"/>
                  </a:lnTo>
                  <a:cubicBezTo>
                    <a:pt x="21700998" y="0"/>
                    <a:pt x="21868385" y="167386"/>
                    <a:pt x="21868385" y="373888"/>
                  </a:cubicBezTo>
                  <a:lnTo>
                    <a:pt x="21868385" y="1962912"/>
                  </a:lnTo>
                  <a:cubicBezTo>
                    <a:pt x="21868385" y="2169414"/>
                    <a:pt x="21700998" y="2336800"/>
                    <a:pt x="21494496" y="2336800"/>
                  </a:cubicBezTo>
                  <a:lnTo>
                    <a:pt x="373888" y="2336800"/>
                  </a:lnTo>
                  <a:cubicBezTo>
                    <a:pt x="167386" y="2336800"/>
                    <a:pt x="0" y="2169414"/>
                    <a:pt x="0" y="1962912"/>
                  </a:cubicBezTo>
                  <a:close/>
                </a:path>
              </a:pathLst>
            </a:custGeom>
            <a:solidFill>
              <a:srgbClr val="86EFA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68384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B0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Дұрыс жауап: A. Кейс-стади (нақты жағдайды топта талдау)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545" y="4772025"/>
            <a:ext cx="16420338" cy="3417570"/>
            <a:chOff x="0" y="0"/>
            <a:chExt cx="21893784" cy="4556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93785" cy="4556760"/>
            </a:xfrm>
            <a:custGeom>
              <a:avLst/>
              <a:gdLst/>
              <a:ahLst/>
              <a:cxnLst/>
              <a:rect r="r" b="b" t="t" l="l"/>
              <a:pathLst>
                <a:path h="4556760" w="21893785">
                  <a:moveTo>
                    <a:pt x="0" y="371983"/>
                  </a:moveTo>
                  <a:cubicBezTo>
                    <a:pt x="0" y="166497"/>
                    <a:pt x="166497" y="0"/>
                    <a:pt x="371983" y="0"/>
                  </a:cubicBezTo>
                  <a:lnTo>
                    <a:pt x="21521801" y="0"/>
                  </a:lnTo>
                  <a:cubicBezTo>
                    <a:pt x="21727288" y="0"/>
                    <a:pt x="21893785" y="166497"/>
                    <a:pt x="21893785" y="371983"/>
                  </a:cubicBezTo>
                  <a:lnTo>
                    <a:pt x="21893785" y="4184777"/>
                  </a:lnTo>
                  <a:cubicBezTo>
                    <a:pt x="21893785" y="4390263"/>
                    <a:pt x="21727288" y="4556760"/>
                    <a:pt x="21521801" y="4556760"/>
                  </a:cubicBezTo>
                  <a:lnTo>
                    <a:pt x="371983" y="4556760"/>
                  </a:lnTo>
                  <a:cubicBezTo>
                    <a:pt x="166497" y="4556760"/>
                    <a:pt x="0" y="4390263"/>
                    <a:pt x="0" y="4184777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893784" cy="4623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Интерактивті әдістерде оқушылар бір-бірімен және мұғаліммен өзара әрекеттеседі: талқылайды, талдайды, шешім табады.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1480" y="192024"/>
            <a:ext cx="795528" cy="740664"/>
            <a:chOff x="0" y="0"/>
            <a:chExt cx="1060704" cy="987552"/>
          </a:xfrm>
        </p:grpSpPr>
        <p:sp>
          <p:nvSpPr>
            <p:cNvPr name="Freeform 4" id="4" descr="Асқабақ"/>
            <p:cNvSpPr/>
            <p:nvPr/>
          </p:nvSpPr>
          <p:spPr>
            <a:xfrm flipH="false" flipV="false" rot="0">
              <a:off x="0" y="0"/>
              <a:ext cx="1060704" cy="987552"/>
            </a:xfrm>
            <a:custGeom>
              <a:avLst/>
              <a:gdLst/>
              <a:ahLst/>
              <a:cxnLst/>
              <a:rect r="r" b="b" t="t" l="l"/>
              <a:pathLst>
                <a:path h="987552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2" r="0" b="-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92024"/>
            <a:ext cx="8229600" cy="754380"/>
            <a:chOff x="0" y="0"/>
            <a:chExt cx="1097280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0972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Оқыту әдістері: Түнгі жорық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0" y="219456"/>
            <a:ext cx="3977640" cy="685800"/>
            <a:chOff x="0" y="0"/>
            <a:chExt cx="530352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3035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960"/>
                </a:lnSpc>
              </a:pPr>
              <a:r>
                <a:rPr lang="en-US" sz="33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8 / 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61745" y="163449"/>
            <a:ext cx="3897630" cy="825246"/>
            <a:chOff x="0" y="0"/>
            <a:chExt cx="5196840" cy="1100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96840" cy="1100328"/>
            </a:xfrm>
            <a:custGeom>
              <a:avLst/>
              <a:gdLst/>
              <a:ahLst/>
              <a:cxnLst/>
              <a:rect r="r" b="b" t="t" l="l"/>
              <a:pathLst>
                <a:path h="1100328" w="5196840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705604" y="0"/>
                  </a:lnTo>
                  <a:cubicBezTo>
                    <a:pt x="4976876" y="0"/>
                    <a:pt x="5196840" y="219964"/>
                    <a:pt x="5196840" y="491236"/>
                  </a:cubicBezTo>
                  <a:lnTo>
                    <a:pt x="5196840" y="609092"/>
                  </a:lnTo>
                  <a:cubicBezTo>
                    <a:pt x="5196840" y="880364"/>
                    <a:pt x="4976876" y="1100328"/>
                    <a:pt x="4705604" y="1100328"/>
                  </a:cubicBezTo>
                  <a:lnTo>
                    <a:pt x="491236" y="1100328"/>
                  </a:lnTo>
                  <a:cubicBezTo>
                    <a:pt x="219964" y="1100328"/>
                    <a:pt x="0" y="880364"/>
                    <a:pt x="0" y="609092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196840" cy="116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Сұрақты ашу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70586" y="8133340"/>
            <a:ext cx="1154430" cy="1154430"/>
            <a:chOff x="0" y="0"/>
            <a:chExt cx="1539240" cy="1539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53392" y="5352707"/>
            <a:ext cx="1154430" cy="1154430"/>
            <a:chOff x="0" y="0"/>
            <a:chExt cx="1539240" cy="1539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07585" y="3746935"/>
            <a:ext cx="1154430" cy="1154430"/>
            <a:chOff x="0" y="0"/>
            <a:chExt cx="1539240" cy="1539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36800" y="5100695"/>
            <a:ext cx="1154430" cy="1154430"/>
            <a:chOff x="0" y="0"/>
            <a:chExt cx="1539240" cy="1539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37000" y="7137940"/>
            <a:ext cx="1154430" cy="1154430"/>
            <a:chOff x="0" y="0"/>
            <a:chExt cx="1539240" cy="1539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19867" y="5706599"/>
            <a:ext cx="1154430" cy="1154430"/>
            <a:chOff x="0" y="0"/>
            <a:chExt cx="1539240" cy="1539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94872" y="2891514"/>
            <a:ext cx="1154430" cy="1154430"/>
            <a:chOff x="0" y="0"/>
            <a:chExt cx="1539240" cy="1539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68521" y="2437781"/>
            <a:ext cx="1192530" cy="1192530"/>
            <a:chOff x="0" y="0"/>
            <a:chExt cx="1590040" cy="1590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90040" cy="1590040"/>
            </a:xfrm>
            <a:custGeom>
              <a:avLst/>
              <a:gdLst/>
              <a:ahLst/>
              <a:cxnLst/>
              <a:rect r="r" b="b" t="t" l="l"/>
              <a:pathLst>
                <a:path h="1590040" w="1590040">
                  <a:moveTo>
                    <a:pt x="0" y="278257"/>
                  </a:moveTo>
                  <a:cubicBezTo>
                    <a:pt x="0" y="124587"/>
                    <a:pt x="124587" y="0"/>
                    <a:pt x="278257" y="0"/>
                  </a:cubicBezTo>
                  <a:lnTo>
                    <a:pt x="1311783" y="0"/>
                  </a:lnTo>
                  <a:cubicBezTo>
                    <a:pt x="1465453" y="0"/>
                    <a:pt x="1590040" y="124587"/>
                    <a:pt x="1590040" y="278257"/>
                  </a:cubicBezTo>
                  <a:lnTo>
                    <a:pt x="1590040" y="1311783"/>
                  </a:lnTo>
                  <a:cubicBezTo>
                    <a:pt x="1590040" y="1465453"/>
                    <a:pt x="1465453" y="1590040"/>
                    <a:pt x="1311783" y="1590040"/>
                  </a:cubicBezTo>
                  <a:lnTo>
                    <a:pt x="278257" y="1590040"/>
                  </a:lnTo>
                  <a:cubicBezTo>
                    <a:pt x="124587" y="1590040"/>
                    <a:pt x="0" y="1465453"/>
                    <a:pt x="0" y="1311783"/>
                  </a:cubicBezTo>
                  <a:close/>
                </a:path>
              </a:pathLst>
            </a:custGeom>
            <a:solidFill>
              <a:srgbClr val="FFB347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590040" cy="167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905328" y="5122545"/>
            <a:ext cx="1154430" cy="1154430"/>
            <a:chOff x="0" y="0"/>
            <a:chExt cx="1539240" cy="1539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08849" y="7818511"/>
            <a:ext cx="1154430" cy="1154430"/>
            <a:chOff x="0" y="0"/>
            <a:chExt cx="1539240" cy="1539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4841" y="9327775"/>
            <a:ext cx="1645920" cy="480060"/>
            <a:chOff x="0" y="0"/>
            <a:chExt cx="219456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945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Старт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447566" y="1182386"/>
            <a:ext cx="1207008" cy="1234440"/>
            <a:chOff x="0" y="0"/>
            <a:chExt cx="1609344" cy="1645920"/>
          </a:xfrm>
        </p:grpSpPr>
        <p:sp>
          <p:nvSpPr>
            <p:cNvPr name="Freeform 48" id="48" descr="Сиқыршы осы жерде"/>
            <p:cNvSpPr/>
            <p:nvPr/>
          </p:nvSpPr>
          <p:spPr>
            <a:xfrm flipH="false" flipV="false" rot="0">
              <a:off x="0" y="0"/>
              <a:ext cx="160934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1" r="0" b="-121"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411480"/>
            <a:ext cx="4800600" cy="617220"/>
            <a:chOff x="0" y="0"/>
            <a:chExt cx="6400800" cy="822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0800" cy="822960"/>
            </a:xfrm>
            <a:custGeom>
              <a:avLst/>
              <a:gdLst/>
              <a:ahLst/>
              <a:cxnLst/>
              <a:rect r="r" b="b" t="t" l="l"/>
              <a:pathLst>
                <a:path h="8229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400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8 / 10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0" y="342900"/>
            <a:ext cx="960120" cy="987552"/>
            <a:chOff x="0" y="0"/>
            <a:chExt cx="1280160" cy="1316736"/>
          </a:xfrm>
        </p:grpSpPr>
        <p:sp>
          <p:nvSpPr>
            <p:cNvPr name="Freeform 7" id="7" descr="Елес"/>
            <p:cNvSpPr/>
            <p:nvPr/>
          </p:nvSpPr>
          <p:spPr>
            <a:xfrm flipH="false" flipV="false" rot="0">
              <a:off x="0" y="0"/>
              <a:ext cx="12801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45" t="0" r="-224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1165860"/>
            <a:ext cx="15361920" cy="2331720"/>
            <a:chOff x="0" y="0"/>
            <a:chExt cx="20482560" cy="310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3108960"/>
            </a:xfrm>
            <a:custGeom>
              <a:avLst/>
              <a:gdLst/>
              <a:ahLst/>
              <a:cxnLst/>
              <a:rect r="r" b="b" t="t" l="l"/>
              <a:pathLst>
                <a:path h="3108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372" r="0" b="-78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0" cy="3118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Индуктивті әдістің мәні қандай?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4385" y="3743325"/>
            <a:ext cx="8218170" cy="2251710"/>
            <a:chOff x="0" y="0"/>
            <a:chExt cx="10957560" cy="3002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Жалпы ереже мен заңнан жеке жағдайларға көшу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70873" y="3743325"/>
            <a:ext cx="8218170" cy="2251710"/>
            <a:chOff x="0" y="0"/>
            <a:chExt cx="10957560" cy="3002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Құбылысты бөліктерге бөліп зерттеу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4385" y="6349365"/>
            <a:ext cx="8218170" cy="2251710"/>
            <a:chOff x="0" y="0"/>
            <a:chExt cx="10957560" cy="3002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Жеке фактілерден жалпы қорытынды мен ережеге көшу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70873" y="6349365"/>
            <a:ext cx="8218170" cy="2251710"/>
            <a:chOff x="0" y="0"/>
            <a:chExt cx="10957560" cy="3002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Екі нысанды ұқсастығы мен айырмашылығы бойынша салыстыру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121140"/>
            <a:ext cx="8229600" cy="548640"/>
            <a:chOff x="0" y="0"/>
            <a:chExt cx="10972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1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Дұрыс жауапты басыңыз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Дұрыс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86EFA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Дұрыс!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545" y="2988945"/>
            <a:ext cx="16420338" cy="3760470"/>
            <a:chOff x="0" y="0"/>
            <a:chExt cx="21893784" cy="501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93785" cy="5013960"/>
            </a:xfrm>
            <a:custGeom>
              <a:avLst/>
              <a:gdLst/>
              <a:ahLst/>
              <a:cxnLst/>
              <a:rect r="r" b="b" t="t" l="l"/>
              <a:pathLst>
                <a:path h="5013960" w="21893785">
                  <a:moveTo>
                    <a:pt x="0" y="371348"/>
                  </a:moveTo>
                  <a:cubicBezTo>
                    <a:pt x="0" y="166243"/>
                    <a:pt x="166243" y="0"/>
                    <a:pt x="371348" y="0"/>
                  </a:cubicBezTo>
                  <a:lnTo>
                    <a:pt x="21522437" y="0"/>
                  </a:lnTo>
                  <a:cubicBezTo>
                    <a:pt x="21727542" y="0"/>
                    <a:pt x="21893785" y="166243"/>
                    <a:pt x="21893785" y="371348"/>
                  </a:cubicBezTo>
                  <a:lnTo>
                    <a:pt x="21893785" y="4642612"/>
                  </a:lnTo>
                  <a:cubicBezTo>
                    <a:pt x="21893785" y="4847717"/>
                    <a:pt x="21727542" y="5013960"/>
                    <a:pt x="21522437" y="5013960"/>
                  </a:cubicBezTo>
                  <a:lnTo>
                    <a:pt x="371348" y="5013960"/>
                  </a:lnTo>
                  <a:cubicBezTo>
                    <a:pt x="166243" y="5013960"/>
                    <a:pt x="0" y="4847717"/>
                    <a:pt x="0" y="4642612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93784" cy="508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Индукция: жекеден жалпыға. Дедукция — керісінше, жалпыдан жекеге.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Қате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CA5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Қате жауап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1070" y="2655570"/>
            <a:ext cx="16401288" cy="1752600"/>
            <a:chOff x="0" y="0"/>
            <a:chExt cx="21868384" cy="233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68385" cy="2336800"/>
            </a:xfrm>
            <a:custGeom>
              <a:avLst/>
              <a:gdLst/>
              <a:ahLst/>
              <a:cxnLst/>
              <a:rect r="r" b="b" t="t" l="l"/>
              <a:pathLst>
                <a:path h="2336800" w="21868385">
                  <a:moveTo>
                    <a:pt x="0" y="373888"/>
                  </a:moveTo>
                  <a:cubicBezTo>
                    <a:pt x="0" y="167386"/>
                    <a:pt x="167386" y="0"/>
                    <a:pt x="373888" y="0"/>
                  </a:cubicBezTo>
                  <a:lnTo>
                    <a:pt x="21494496" y="0"/>
                  </a:lnTo>
                  <a:cubicBezTo>
                    <a:pt x="21700998" y="0"/>
                    <a:pt x="21868385" y="167386"/>
                    <a:pt x="21868385" y="373888"/>
                  </a:cubicBezTo>
                  <a:lnTo>
                    <a:pt x="21868385" y="1962912"/>
                  </a:lnTo>
                  <a:cubicBezTo>
                    <a:pt x="21868385" y="2169414"/>
                    <a:pt x="21700998" y="2336800"/>
                    <a:pt x="21494496" y="2336800"/>
                  </a:cubicBezTo>
                  <a:lnTo>
                    <a:pt x="373888" y="2336800"/>
                  </a:lnTo>
                  <a:cubicBezTo>
                    <a:pt x="167386" y="2336800"/>
                    <a:pt x="0" y="2169414"/>
                    <a:pt x="0" y="1962912"/>
                  </a:cubicBezTo>
                  <a:close/>
                </a:path>
              </a:pathLst>
            </a:custGeom>
            <a:solidFill>
              <a:srgbClr val="86EFA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68384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B0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Дұрыс жауап: C. Жеке фактілерден жалпы қорытынды мен ережеге көшу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545" y="4772025"/>
            <a:ext cx="16420338" cy="3417570"/>
            <a:chOff x="0" y="0"/>
            <a:chExt cx="21893784" cy="4556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93785" cy="4556760"/>
            </a:xfrm>
            <a:custGeom>
              <a:avLst/>
              <a:gdLst/>
              <a:ahLst/>
              <a:cxnLst/>
              <a:rect r="r" b="b" t="t" l="l"/>
              <a:pathLst>
                <a:path h="4556760" w="21893785">
                  <a:moveTo>
                    <a:pt x="0" y="371983"/>
                  </a:moveTo>
                  <a:cubicBezTo>
                    <a:pt x="0" y="166497"/>
                    <a:pt x="166497" y="0"/>
                    <a:pt x="371983" y="0"/>
                  </a:cubicBezTo>
                  <a:lnTo>
                    <a:pt x="21521801" y="0"/>
                  </a:lnTo>
                  <a:cubicBezTo>
                    <a:pt x="21727288" y="0"/>
                    <a:pt x="21893785" y="166497"/>
                    <a:pt x="21893785" y="371983"/>
                  </a:cubicBezTo>
                  <a:lnTo>
                    <a:pt x="21893785" y="4184777"/>
                  </a:lnTo>
                  <a:cubicBezTo>
                    <a:pt x="21893785" y="4390263"/>
                    <a:pt x="21727288" y="4556760"/>
                    <a:pt x="21521801" y="4556760"/>
                  </a:cubicBezTo>
                  <a:lnTo>
                    <a:pt x="371983" y="4556760"/>
                  </a:lnTo>
                  <a:cubicBezTo>
                    <a:pt x="166497" y="4556760"/>
                    <a:pt x="0" y="4390263"/>
                    <a:pt x="0" y="4184777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893784" cy="4623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Индукция: жекеден жалпыға. Дедукция — керісінше, жалпыдан жекеге.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1480" y="192024"/>
            <a:ext cx="795528" cy="740664"/>
            <a:chOff x="0" y="0"/>
            <a:chExt cx="1060704" cy="987552"/>
          </a:xfrm>
        </p:grpSpPr>
        <p:sp>
          <p:nvSpPr>
            <p:cNvPr name="Freeform 4" id="4" descr="Асқабақ"/>
            <p:cNvSpPr/>
            <p:nvPr/>
          </p:nvSpPr>
          <p:spPr>
            <a:xfrm flipH="false" flipV="false" rot="0">
              <a:off x="0" y="0"/>
              <a:ext cx="1060704" cy="987552"/>
            </a:xfrm>
            <a:custGeom>
              <a:avLst/>
              <a:gdLst/>
              <a:ahLst/>
              <a:cxnLst/>
              <a:rect r="r" b="b" t="t" l="l"/>
              <a:pathLst>
                <a:path h="987552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2" r="0" b="-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92024"/>
            <a:ext cx="8229600" cy="754380"/>
            <a:chOff x="0" y="0"/>
            <a:chExt cx="1097280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0972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Оқыту әдістері: Түнгі жорық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0" y="219456"/>
            <a:ext cx="3977640" cy="685800"/>
            <a:chOff x="0" y="0"/>
            <a:chExt cx="530352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3035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960"/>
                </a:lnSpc>
              </a:pPr>
              <a:r>
                <a:rPr lang="en-US" sz="33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9 / 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61745" y="163449"/>
            <a:ext cx="3897630" cy="825246"/>
            <a:chOff x="0" y="0"/>
            <a:chExt cx="5196840" cy="1100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96840" cy="1100328"/>
            </a:xfrm>
            <a:custGeom>
              <a:avLst/>
              <a:gdLst/>
              <a:ahLst/>
              <a:cxnLst/>
              <a:rect r="r" b="b" t="t" l="l"/>
              <a:pathLst>
                <a:path h="1100328" w="5196840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705604" y="0"/>
                  </a:lnTo>
                  <a:cubicBezTo>
                    <a:pt x="4976876" y="0"/>
                    <a:pt x="5196840" y="219964"/>
                    <a:pt x="5196840" y="491236"/>
                  </a:cubicBezTo>
                  <a:lnTo>
                    <a:pt x="5196840" y="609092"/>
                  </a:lnTo>
                  <a:cubicBezTo>
                    <a:pt x="5196840" y="880364"/>
                    <a:pt x="4976876" y="1100328"/>
                    <a:pt x="4705604" y="1100328"/>
                  </a:cubicBezTo>
                  <a:lnTo>
                    <a:pt x="491236" y="1100328"/>
                  </a:lnTo>
                  <a:cubicBezTo>
                    <a:pt x="219964" y="1100328"/>
                    <a:pt x="0" y="880364"/>
                    <a:pt x="0" y="609092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196840" cy="116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Сұрақты ашу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70586" y="8133340"/>
            <a:ext cx="1154430" cy="1154430"/>
            <a:chOff x="0" y="0"/>
            <a:chExt cx="1539240" cy="1539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53392" y="5352707"/>
            <a:ext cx="1154430" cy="1154430"/>
            <a:chOff x="0" y="0"/>
            <a:chExt cx="1539240" cy="1539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07585" y="3746935"/>
            <a:ext cx="1154430" cy="1154430"/>
            <a:chOff x="0" y="0"/>
            <a:chExt cx="1539240" cy="1539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36800" y="5100695"/>
            <a:ext cx="1154430" cy="1154430"/>
            <a:chOff x="0" y="0"/>
            <a:chExt cx="1539240" cy="1539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37000" y="7137940"/>
            <a:ext cx="1154430" cy="1154430"/>
            <a:chOff x="0" y="0"/>
            <a:chExt cx="1539240" cy="1539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19867" y="5706599"/>
            <a:ext cx="1154430" cy="1154430"/>
            <a:chOff x="0" y="0"/>
            <a:chExt cx="1539240" cy="1539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94872" y="2891514"/>
            <a:ext cx="1154430" cy="1154430"/>
            <a:chOff x="0" y="0"/>
            <a:chExt cx="1539240" cy="1539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87571" y="2456831"/>
            <a:ext cx="1154430" cy="1154430"/>
            <a:chOff x="0" y="0"/>
            <a:chExt cx="1539240" cy="1539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886278" y="5103495"/>
            <a:ext cx="1192530" cy="1192530"/>
            <a:chOff x="0" y="0"/>
            <a:chExt cx="1590040" cy="1590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90040" cy="1590040"/>
            </a:xfrm>
            <a:custGeom>
              <a:avLst/>
              <a:gdLst/>
              <a:ahLst/>
              <a:cxnLst/>
              <a:rect r="r" b="b" t="t" l="l"/>
              <a:pathLst>
                <a:path h="1590040" w="1590040">
                  <a:moveTo>
                    <a:pt x="0" y="278257"/>
                  </a:moveTo>
                  <a:cubicBezTo>
                    <a:pt x="0" y="124587"/>
                    <a:pt x="124587" y="0"/>
                    <a:pt x="278257" y="0"/>
                  </a:cubicBezTo>
                  <a:lnTo>
                    <a:pt x="1311783" y="0"/>
                  </a:lnTo>
                  <a:cubicBezTo>
                    <a:pt x="1465453" y="0"/>
                    <a:pt x="1590040" y="124587"/>
                    <a:pt x="1590040" y="278257"/>
                  </a:cubicBezTo>
                  <a:lnTo>
                    <a:pt x="1590040" y="1311783"/>
                  </a:lnTo>
                  <a:cubicBezTo>
                    <a:pt x="1590040" y="1465453"/>
                    <a:pt x="1465453" y="1590040"/>
                    <a:pt x="1311783" y="1590040"/>
                  </a:cubicBezTo>
                  <a:lnTo>
                    <a:pt x="278257" y="1590040"/>
                  </a:lnTo>
                  <a:cubicBezTo>
                    <a:pt x="124587" y="1590040"/>
                    <a:pt x="0" y="1465453"/>
                    <a:pt x="0" y="1311783"/>
                  </a:cubicBezTo>
                  <a:close/>
                </a:path>
              </a:pathLst>
            </a:custGeom>
            <a:solidFill>
              <a:srgbClr val="FFB347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1590040" cy="167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08849" y="7818511"/>
            <a:ext cx="1154430" cy="1154430"/>
            <a:chOff x="0" y="0"/>
            <a:chExt cx="1539240" cy="1539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4841" y="9327775"/>
            <a:ext cx="1645920" cy="480060"/>
            <a:chOff x="0" y="0"/>
            <a:chExt cx="219456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945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Старт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865323" y="3848100"/>
            <a:ext cx="1207008" cy="1234440"/>
            <a:chOff x="0" y="0"/>
            <a:chExt cx="1609344" cy="1645920"/>
          </a:xfrm>
        </p:grpSpPr>
        <p:sp>
          <p:nvSpPr>
            <p:cNvPr name="Freeform 48" id="48" descr="Сиқыршы осы жерде"/>
            <p:cNvSpPr/>
            <p:nvPr/>
          </p:nvSpPr>
          <p:spPr>
            <a:xfrm flipH="false" flipV="false" rot="0">
              <a:off x="0" y="0"/>
              <a:ext cx="160934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1" r="0" b="-121"/>
              </a:stretch>
            </a:blipFill>
          </p:spPr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411480"/>
            <a:ext cx="4800600" cy="617220"/>
            <a:chOff x="0" y="0"/>
            <a:chExt cx="6400800" cy="822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0800" cy="822960"/>
            </a:xfrm>
            <a:custGeom>
              <a:avLst/>
              <a:gdLst/>
              <a:ahLst/>
              <a:cxnLst/>
              <a:rect r="r" b="b" t="t" l="l"/>
              <a:pathLst>
                <a:path h="8229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400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9 / 10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0" y="342900"/>
            <a:ext cx="960120" cy="987552"/>
            <a:chOff x="0" y="0"/>
            <a:chExt cx="1280160" cy="1316736"/>
          </a:xfrm>
        </p:grpSpPr>
        <p:sp>
          <p:nvSpPr>
            <p:cNvPr name="Freeform 7" id="7" descr="Елес"/>
            <p:cNvSpPr/>
            <p:nvPr/>
          </p:nvSpPr>
          <p:spPr>
            <a:xfrm flipH="false" flipV="false" rot="0">
              <a:off x="0" y="0"/>
              <a:ext cx="12801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45" t="0" r="-224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1165860"/>
            <a:ext cx="15361920" cy="2331720"/>
            <a:chOff x="0" y="0"/>
            <a:chExt cx="20482560" cy="310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3108960"/>
            </a:xfrm>
            <a:custGeom>
              <a:avLst/>
              <a:gdLst/>
              <a:ahLst/>
              <a:cxnLst/>
              <a:rect r="r" b="b" t="t" l="l"/>
              <a:pathLst>
                <a:path h="3108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372" r="0" b="-78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0" cy="3118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«Оқыту тәсілі» мен «оқыту әдісі» арақатынасы қалай?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4385" y="3743325"/>
            <a:ext cx="8218170" cy="2251710"/>
            <a:chOff x="0" y="0"/>
            <a:chExt cx="10957560" cy="3002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Тәсіл әдістен әрқашан кең ұғым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70873" y="3743325"/>
            <a:ext cx="8218170" cy="2251710"/>
            <a:chOff x="0" y="0"/>
            <a:chExt cx="10957560" cy="3002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Тәсіл — әдістің құрамдас бөлігі, оның жеке қадамы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4385" y="6349365"/>
            <a:ext cx="8218170" cy="2251710"/>
            <a:chOff x="0" y="0"/>
            <a:chExt cx="10957560" cy="3002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Олар толық синоним, айырмашылығы жоқ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70873" y="6349365"/>
            <a:ext cx="8218170" cy="2251710"/>
            <a:chOff x="0" y="0"/>
            <a:chExt cx="10957560" cy="3002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Тәсіл — оқытуды ұйымдастыру формасы (сабақ, экскурсия)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121140"/>
            <a:ext cx="8229600" cy="548640"/>
            <a:chOff x="0" y="0"/>
            <a:chExt cx="10972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1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Дұрыс жауапты басыңыз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Дұрыс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86EFA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Дұрыс!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545" y="2988945"/>
            <a:ext cx="16420338" cy="3760470"/>
            <a:chOff x="0" y="0"/>
            <a:chExt cx="21893784" cy="501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93785" cy="5013960"/>
            </a:xfrm>
            <a:custGeom>
              <a:avLst/>
              <a:gdLst/>
              <a:ahLst/>
              <a:cxnLst/>
              <a:rect r="r" b="b" t="t" l="l"/>
              <a:pathLst>
                <a:path h="5013960" w="21893785">
                  <a:moveTo>
                    <a:pt x="0" y="371348"/>
                  </a:moveTo>
                  <a:cubicBezTo>
                    <a:pt x="0" y="166243"/>
                    <a:pt x="166243" y="0"/>
                    <a:pt x="371348" y="0"/>
                  </a:cubicBezTo>
                  <a:lnTo>
                    <a:pt x="21522437" y="0"/>
                  </a:lnTo>
                  <a:cubicBezTo>
                    <a:pt x="21727542" y="0"/>
                    <a:pt x="21893785" y="166243"/>
                    <a:pt x="21893785" y="371348"/>
                  </a:cubicBezTo>
                  <a:lnTo>
                    <a:pt x="21893785" y="4642612"/>
                  </a:lnTo>
                  <a:cubicBezTo>
                    <a:pt x="21893785" y="4847717"/>
                    <a:pt x="21727542" y="5013960"/>
                    <a:pt x="21522437" y="5013960"/>
                  </a:cubicBezTo>
                  <a:lnTo>
                    <a:pt x="371348" y="5013960"/>
                  </a:lnTo>
                  <a:cubicBezTo>
                    <a:pt x="166243" y="5013960"/>
                    <a:pt x="0" y="4847717"/>
                    <a:pt x="0" y="4642612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93784" cy="508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Әдіс бірнеше тәсілден тұрады. Бір тәсіл әртүрлі әдістерде қолданыла алады.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Қате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CA5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Қате жауап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1070" y="2655570"/>
            <a:ext cx="16401288" cy="1752600"/>
            <a:chOff x="0" y="0"/>
            <a:chExt cx="21868384" cy="233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68385" cy="2336800"/>
            </a:xfrm>
            <a:custGeom>
              <a:avLst/>
              <a:gdLst/>
              <a:ahLst/>
              <a:cxnLst/>
              <a:rect r="r" b="b" t="t" l="l"/>
              <a:pathLst>
                <a:path h="2336800" w="21868385">
                  <a:moveTo>
                    <a:pt x="0" y="373888"/>
                  </a:moveTo>
                  <a:cubicBezTo>
                    <a:pt x="0" y="167386"/>
                    <a:pt x="167386" y="0"/>
                    <a:pt x="373888" y="0"/>
                  </a:cubicBezTo>
                  <a:lnTo>
                    <a:pt x="21494496" y="0"/>
                  </a:lnTo>
                  <a:cubicBezTo>
                    <a:pt x="21700998" y="0"/>
                    <a:pt x="21868385" y="167386"/>
                    <a:pt x="21868385" y="373888"/>
                  </a:cubicBezTo>
                  <a:lnTo>
                    <a:pt x="21868385" y="1962912"/>
                  </a:lnTo>
                  <a:cubicBezTo>
                    <a:pt x="21868385" y="2169414"/>
                    <a:pt x="21700998" y="2336800"/>
                    <a:pt x="21494496" y="2336800"/>
                  </a:cubicBezTo>
                  <a:lnTo>
                    <a:pt x="373888" y="2336800"/>
                  </a:lnTo>
                  <a:cubicBezTo>
                    <a:pt x="167386" y="2336800"/>
                    <a:pt x="0" y="2169414"/>
                    <a:pt x="0" y="1962912"/>
                  </a:cubicBezTo>
                  <a:close/>
                </a:path>
              </a:pathLst>
            </a:custGeom>
            <a:solidFill>
              <a:srgbClr val="86EFA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68384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B0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Дұрыс жауап: B. Тәсіл — әдістің құрамдас бөлігі, оның жеке қадамы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545" y="4772025"/>
            <a:ext cx="16420338" cy="3417570"/>
            <a:chOff x="0" y="0"/>
            <a:chExt cx="21893784" cy="4556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93785" cy="4556760"/>
            </a:xfrm>
            <a:custGeom>
              <a:avLst/>
              <a:gdLst/>
              <a:ahLst/>
              <a:cxnLst/>
              <a:rect r="r" b="b" t="t" l="l"/>
              <a:pathLst>
                <a:path h="4556760" w="21893785">
                  <a:moveTo>
                    <a:pt x="0" y="371983"/>
                  </a:moveTo>
                  <a:cubicBezTo>
                    <a:pt x="0" y="166497"/>
                    <a:pt x="166497" y="0"/>
                    <a:pt x="371983" y="0"/>
                  </a:cubicBezTo>
                  <a:lnTo>
                    <a:pt x="21521801" y="0"/>
                  </a:lnTo>
                  <a:cubicBezTo>
                    <a:pt x="21727288" y="0"/>
                    <a:pt x="21893785" y="166497"/>
                    <a:pt x="21893785" y="371983"/>
                  </a:cubicBezTo>
                  <a:lnTo>
                    <a:pt x="21893785" y="4184777"/>
                  </a:lnTo>
                  <a:cubicBezTo>
                    <a:pt x="21893785" y="4390263"/>
                    <a:pt x="21727288" y="4556760"/>
                    <a:pt x="21521801" y="4556760"/>
                  </a:cubicBezTo>
                  <a:lnTo>
                    <a:pt x="371983" y="4556760"/>
                  </a:lnTo>
                  <a:cubicBezTo>
                    <a:pt x="166497" y="4556760"/>
                    <a:pt x="0" y="4390263"/>
                    <a:pt x="0" y="4184777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893784" cy="4623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Әдіс бірнеше тәсілден тұрады. Бір тәсіл әртүрлі әдістерде қолданыла алады.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Әрі қарай  →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1480" y="192024"/>
            <a:ext cx="795528" cy="740664"/>
            <a:chOff x="0" y="0"/>
            <a:chExt cx="1060704" cy="987552"/>
          </a:xfrm>
        </p:grpSpPr>
        <p:sp>
          <p:nvSpPr>
            <p:cNvPr name="Freeform 4" id="4" descr="Асқабақ"/>
            <p:cNvSpPr/>
            <p:nvPr/>
          </p:nvSpPr>
          <p:spPr>
            <a:xfrm flipH="false" flipV="false" rot="0">
              <a:off x="0" y="0"/>
              <a:ext cx="1060704" cy="987552"/>
            </a:xfrm>
            <a:custGeom>
              <a:avLst/>
              <a:gdLst/>
              <a:ahLst/>
              <a:cxnLst/>
              <a:rect r="r" b="b" t="t" l="l"/>
              <a:pathLst>
                <a:path h="987552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2" r="0" b="-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92024"/>
            <a:ext cx="8229600" cy="754380"/>
            <a:chOff x="0" y="0"/>
            <a:chExt cx="1097280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0972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Оқыту әдістері: Түнгі жорық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0" y="219456"/>
            <a:ext cx="3977640" cy="685800"/>
            <a:chOff x="0" y="0"/>
            <a:chExt cx="530352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3035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960"/>
                </a:lnSpc>
              </a:pPr>
              <a:r>
                <a:rPr lang="en-US" sz="33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10 / 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61745" y="163449"/>
            <a:ext cx="3897630" cy="825246"/>
            <a:chOff x="0" y="0"/>
            <a:chExt cx="5196840" cy="1100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96840" cy="1100328"/>
            </a:xfrm>
            <a:custGeom>
              <a:avLst/>
              <a:gdLst/>
              <a:ahLst/>
              <a:cxnLst/>
              <a:rect r="r" b="b" t="t" l="l"/>
              <a:pathLst>
                <a:path h="1100328" w="5196840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705604" y="0"/>
                  </a:lnTo>
                  <a:cubicBezTo>
                    <a:pt x="4976876" y="0"/>
                    <a:pt x="5196840" y="219964"/>
                    <a:pt x="5196840" y="491236"/>
                  </a:cubicBezTo>
                  <a:lnTo>
                    <a:pt x="5196840" y="609092"/>
                  </a:lnTo>
                  <a:cubicBezTo>
                    <a:pt x="5196840" y="880364"/>
                    <a:pt x="4976876" y="1100328"/>
                    <a:pt x="4705604" y="1100328"/>
                  </a:cubicBezTo>
                  <a:lnTo>
                    <a:pt x="491236" y="1100328"/>
                  </a:lnTo>
                  <a:cubicBezTo>
                    <a:pt x="219964" y="1100328"/>
                    <a:pt x="0" y="880364"/>
                    <a:pt x="0" y="609092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196840" cy="116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Сұрақты ашу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70586" y="8133340"/>
            <a:ext cx="1154430" cy="1154430"/>
            <a:chOff x="0" y="0"/>
            <a:chExt cx="1539240" cy="1539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53392" y="5352707"/>
            <a:ext cx="1154430" cy="1154430"/>
            <a:chOff x="0" y="0"/>
            <a:chExt cx="1539240" cy="1539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07585" y="3746935"/>
            <a:ext cx="1154430" cy="1154430"/>
            <a:chOff x="0" y="0"/>
            <a:chExt cx="1539240" cy="1539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36800" y="5100695"/>
            <a:ext cx="1154430" cy="1154430"/>
            <a:chOff x="0" y="0"/>
            <a:chExt cx="1539240" cy="1539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37000" y="7137940"/>
            <a:ext cx="1154430" cy="1154430"/>
            <a:chOff x="0" y="0"/>
            <a:chExt cx="1539240" cy="1539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19867" y="5706599"/>
            <a:ext cx="1154430" cy="1154430"/>
            <a:chOff x="0" y="0"/>
            <a:chExt cx="1539240" cy="1539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94872" y="2891514"/>
            <a:ext cx="1154430" cy="1154430"/>
            <a:chOff x="0" y="0"/>
            <a:chExt cx="1539240" cy="1539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87571" y="2456831"/>
            <a:ext cx="1154430" cy="1154430"/>
            <a:chOff x="0" y="0"/>
            <a:chExt cx="1539240" cy="1539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905328" y="5122545"/>
            <a:ext cx="1154430" cy="1154430"/>
            <a:chOff x="0" y="0"/>
            <a:chExt cx="1539240" cy="1539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39240" cy="1539240"/>
            </a:xfrm>
            <a:custGeom>
              <a:avLst/>
              <a:gdLst/>
              <a:ahLst/>
              <a:cxnLst/>
              <a:rect r="r" b="b" t="t" l="l"/>
              <a:pathLst>
                <a:path h="1539240" w="1539240">
                  <a:moveTo>
                    <a:pt x="0" y="269367"/>
                  </a:moveTo>
                  <a:cubicBezTo>
                    <a:pt x="0" y="120650"/>
                    <a:pt x="120650" y="0"/>
                    <a:pt x="269367" y="0"/>
                  </a:cubicBezTo>
                  <a:lnTo>
                    <a:pt x="1269873" y="0"/>
                  </a:lnTo>
                  <a:cubicBezTo>
                    <a:pt x="1418590" y="0"/>
                    <a:pt x="1539240" y="120650"/>
                    <a:pt x="1539240" y="269367"/>
                  </a:cubicBezTo>
                  <a:lnTo>
                    <a:pt x="1539240" y="1269873"/>
                  </a:lnTo>
                  <a:cubicBezTo>
                    <a:pt x="1539240" y="1418590"/>
                    <a:pt x="1418590" y="1539240"/>
                    <a:pt x="1269873" y="1539240"/>
                  </a:cubicBezTo>
                  <a:lnTo>
                    <a:pt x="269367" y="1539240"/>
                  </a:lnTo>
                  <a:cubicBezTo>
                    <a:pt x="120650" y="1539240"/>
                    <a:pt x="0" y="1418590"/>
                    <a:pt x="0" y="1269873"/>
                  </a:cubicBezTo>
                  <a:close/>
                </a:path>
              </a:pathLst>
            </a:custGeom>
            <a:solidFill>
              <a:srgbClr val="8D63D6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1539240" cy="162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089799" y="7799461"/>
            <a:ext cx="1192530" cy="1192530"/>
            <a:chOff x="0" y="0"/>
            <a:chExt cx="1590040" cy="1590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90040" cy="1590040"/>
            </a:xfrm>
            <a:custGeom>
              <a:avLst/>
              <a:gdLst/>
              <a:ahLst/>
              <a:cxnLst/>
              <a:rect r="r" b="b" t="t" l="l"/>
              <a:pathLst>
                <a:path h="1590040" w="1590040">
                  <a:moveTo>
                    <a:pt x="0" y="278257"/>
                  </a:moveTo>
                  <a:cubicBezTo>
                    <a:pt x="0" y="124587"/>
                    <a:pt x="124587" y="0"/>
                    <a:pt x="278257" y="0"/>
                  </a:cubicBezTo>
                  <a:lnTo>
                    <a:pt x="1311783" y="0"/>
                  </a:lnTo>
                  <a:cubicBezTo>
                    <a:pt x="1465453" y="0"/>
                    <a:pt x="1590040" y="124587"/>
                    <a:pt x="1590040" y="278257"/>
                  </a:cubicBezTo>
                  <a:lnTo>
                    <a:pt x="1590040" y="1311783"/>
                  </a:lnTo>
                  <a:cubicBezTo>
                    <a:pt x="1590040" y="1465453"/>
                    <a:pt x="1465453" y="1590040"/>
                    <a:pt x="1311783" y="1590040"/>
                  </a:cubicBezTo>
                  <a:lnTo>
                    <a:pt x="278257" y="1590040"/>
                  </a:lnTo>
                  <a:cubicBezTo>
                    <a:pt x="124587" y="1590040"/>
                    <a:pt x="0" y="1465453"/>
                    <a:pt x="0" y="1311783"/>
                  </a:cubicBezTo>
                  <a:close/>
                </a:path>
              </a:pathLst>
            </a:custGeom>
            <a:solidFill>
              <a:srgbClr val="FFB347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1590040" cy="167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4841" y="9327775"/>
            <a:ext cx="1645920" cy="480060"/>
            <a:chOff x="0" y="0"/>
            <a:chExt cx="219456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945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Старт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068844" y="6544066"/>
            <a:ext cx="1207008" cy="1234440"/>
            <a:chOff x="0" y="0"/>
            <a:chExt cx="1609344" cy="1645920"/>
          </a:xfrm>
        </p:grpSpPr>
        <p:sp>
          <p:nvSpPr>
            <p:cNvPr name="Freeform 48" id="48" descr="Сиқыршы осы жерде"/>
            <p:cNvSpPr/>
            <p:nvPr/>
          </p:nvSpPr>
          <p:spPr>
            <a:xfrm flipH="false" flipV="false" rot="0">
              <a:off x="0" y="0"/>
              <a:ext cx="160934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1" r="0" b="-121"/>
              </a:stretch>
            </a:blipFill>
          </p:spPr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411480"/>
            <a:ext cx="4800600" cy="617220"/>
            <a:chOff x="0" y="0"/>
            <a:chExt cx="6400800" cy="822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0800" cy="822960"/>
            </a:xfrm>
            <a:custGeom>
              <a:avLst/>
              <a:gdLst/>
              <a:ahLst/>
              <a:cxnLst/>
              <a:rect r="r" b="b" t="t" l="l"/>
              <a:pathLst>
                <a:path h="8229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400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Сұрақ 10 / 10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0" y="342900"/>
            <a:ext cx="960120" cy="987552"/>
            <a:chOff x="0" y="0"/>
            <a:chExt cx="1280160" cy="1316736"/>
          </a:xfrm>
        </p:grpSpPr>
        <p:sp>
          <p:nvSpPr>
            <p:cNvPr name="Freeform 7" id="7" descr="Елес"/>
            <p:cNvSpPr/>
            <p:nvPr/>
          </p:nvSpPr>
          <p:spPr>
            <a:xfrm flipH="false" flipV="false" rot="0">
              <a:off x="0" y="0"/>
              <a:ext cx="12801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45" t="0" r="-224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1165860"/>
            <a:ext cx="15361920" cy="2331720"/>
            <a:chOff x="0" y="0"/>
            <a:chExt cx="20482560" cy="310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3108960"/>
            </a:xfrm>
            <a:custGeom>
              <a:avLst/>
              <a:gdLst/>
              <a:ahLst/>
              <a:cxnLst/>
              <a:rect r="r" b="b" t="t" l="l"/>
              <a:pathLst>
                <a:path h="3108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372" r="0" b="-78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0" cy="3118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«Ойлан – жұптас – бөліс» стратегиясы қай әдіс тобына жатады?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4385" y="3743325"/>
            <a:ext cx="8218170" cy="2251710"/>
            <a:chOff x="0" y="0"/>
            <a:chExt cx="10957560" cy="3002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Репродуктивті әдістерге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70873" y="3743325"/>
            <a:ext cx="8218170" cy="2251710"/>
            <a:chOff x="0" y="0"/>
            <a:chExt cx="10957560" cy="3002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Көрнекілік әдістерге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4385" y="6349365"/>
            <a:ext cx="8218170" cy="2251710"/>
            <a:chOff x="0" y="0"/>
            <a:chExt cx="10957560" cy="3002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Түсіндірмелі-иллюстративті әдіске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70873" y="6349365"/>
            <a:ext cx="8218170" cy="2251710"/>
            <a:chOff x="0" y="0"/>
            <a:chExt cx="10957560" cy="3002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57560" cy="3002280"/>
            </a:xfrm>
            <a:custGeom>
              <a:avLst/>
              <a:gdLst/>
              <a:ahLst/>
              <a:cxnLst/>
              <a:rect r="r" b="b" t="t" l="l"/>
              <a:pathLst>
                <a:path h="3002280" w="10957560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10582275" y="0"/>
                  </a:lnTo>
                  <a:cubicBezTo>
                    <a:pt x="10789539" y="0"/>
                    <a:pt x="10957560" y="168021"/>
                    <a:pt x="10957560" y="375285"/>
                  </a:cubicBezTo>
                  <a:lnTo>
                    <a:pt x="10957560" y="2626995"/>
                  </a:lnTo>
                  <a:cubicBezTo>
                    <a:pt x="10957560" y="2834259"/>
                    <a:pt x="10789539" y="3002280"/>
                    <a:pt x="10582275" y="3002280"/>
                  </a:cubicBezTo>
                  <a:lnTo>
                    <a:pt x="375285" y="3002280"/>
                  </a:lnTo>
                  <a:cubicBezTo>
                    <a:pt x="168021" y="3002280"/>
                    <a:pt x="0" y="2834259"/>
                    <a:pt x="0" y="2626995"/>
                  </a:cubicBezTo>
                  <a:close/>
                </a:path>
              </a:pathLst>
            </a:custGeom>
            <a:solidFill>
              <a:srgbClr val="FFF1C9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957560" cy="306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D63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   </a:t>
              </a:r>
              <a:r>
                <a:rPr lang="en-US" sz="30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Интерактивті (ынтымақтастықта оқыту) әдістеріне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121140"/>
            <a:ext cx="8229600" cy="548640"/>
            <a:chOff x="0" y="0"/>
            <a:chExt cx="10972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1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Дұрыс жауапты басыңыз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Дұрыс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86EFA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Дұрыс!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545" y="2988945"/>
            <a:ext cx="16420338" cy="3760470"/>
            <a:chOff x="0" y="0"/>
            <a:chExt cx="21893784" cy="501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93785" cy="5013960"/>
            </a:xfrm>
            <a:custGeom>
              <a:avLst/>
              <a:gdLst/>
              <a:ahLst/>
              <a:cxnLst/>
              <a:rect r="r" b="b" t="t" l="l"/>
              <a:pathLst>
                <a:path h="5013960" w="21893785">
                  <a:moveTo>
                    <a:pt x="0" y="371348"/>
                  </a:moveTo>
                  <a:cubicBezTo>
                    <a:pt x="0" y="166243"/>
                    <a:pt x="166243" y="0"/>
                    <a:pt x="371348" y="0"/>
                  </a:cubicBezTo>
                  <a:lnTo>
                    <a:pt x="21522437" y="0"/>
                  </a:lnTo>
                  <a:cubicBezTo>
                    <a:pt x="21727542" y="0"/>
                    <a:pt x="21893785" y="166243"/>
                    <a:pt x="21893785" y="371348"/>
                  </a:cubicBezTo>
                  <a:lnTo>
                    <a:pt x="21893785" y="4642612"/>
                  </a:lnTo>
                  <a:cubicBezTo>
                    <a:pt x="21893785" y="4847717"/>
                    <a:pt x="21727542" y="5013960"/>
                    <a:pt x="21522437" y="5013960"/>
                  </a:cubicBezTo>
                  <a:lnTo>
                    <a:pt x="371348" y="5013960"/>
                  </a:lnTo>
                  <a:cubicBezTo>
                    <a:pt x="166243" y="5013960"/>
                    <a:pt x="0" y="4847717"/>
                    <a:pt x="0" y="4642612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93784" cy="508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Оқушы алдымен жеке ойланады, жұпта талқылайды, соңында сыныппен бөліседі. Оқу өзара әрекеттестік арқылы жүреді.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Финишке!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617220"/>
            <a:ext cx="1645920" cy="1645920"/>
            <a:chOff x="0" y="0"/>
            <a:chExt cx="2194560" cy="2194560"/>
          </a:xfrm>
        </p:grpSpPr>
        <p:sp>
          <p:nvSpPr>
            <p:cNvPr name="Freeform 4" id="4" descr="Қате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54680" y="754380"/>
            <a:ext cx="14264640" cy="1645920"/>
            <a:chOff x="0" y="0"/>
            <a:chExt cx="190195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1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01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CA5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Қате жауап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1070" y="2655570"/>
            <a:ext cx="16401288" cy="1752600"/>
            <a:chOff x="0" y="0"/>
            <a:chExt cx="21868384" cy="233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68385" cy="2336800"/>
            </a:xfrm>
            <a:custGeom>
              <a:avLst/>
              <a:gdLst/>
              <a:ahLst/>
              <a:cxnLst/>
              <a:rect r="r" b="b" t="t" l="l"/>
              <a:pathLst>
                <a:path h="2336800" w="21868385">
                  <a:moveTo>
                    <a:pt x="0" y="373888"/>
                  </a:moveTo>
                  <a:cubicBezTo>
                    <a:pt x="0" y="167386"/>
                    <a:pt x="167386" y="0"/>
                    <a:pt x="373888" y="0"/>
                  </a:cubicBezTo>
                  <a:lnTo>
                    <a:pt x="21494496" y="0"/>
                  </a:lnTo>
                  <a:cubicBezTo>
                    <a:pt x="21700998" y="0"/>
                    <a:pt x="21868385" y="167386"/>
                    <a:pt x="21868385" y="373888"/>
                  </a:cubicBezTo>
                  <a:lnTo>
                    <a:pt x="21868385" y="1962912"/>
                  </a:lnTo>
                  <a:cubicBezTo>
                    <a:pt x="21868385" y="2169414"/>
                    <a:pt x="21700998" y="2336800"/>
                    <a:pt x="21494496" y="2336800"/>
                  </a:cubicBezTo>
                  <a:lnTo>
                    <a:pt x="373888" y="2336800"/>
                  </a:lnTo>
                  <a:cubicBezTo>
                    <a:pt x="167386" y="2336800"/>
                    <a:pt x="0" y="2169414"/>
                    <a:pt x="0" y="1962912"/>
                  </a:cubicBezTo>
                  <a:close/>
                </a:path>
              </a:pathLst>
            </a:custGeom>
            <a:solidFill>
              <a:srgbClr val="86EFA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868384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B0F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Дұрыс жауап: D. Интерактивті (ынтымақтастықта оқыту) әдістеріне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545" y="4772025"/>
            <a:ext cx="16420338" cy="3417570"/>
            <a:chOff x="0" y="0"/>
            <a:chExt cx="21893784" cy="4556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93785" cy="4556760"/>
            </a:xfrm>
            <a:custGeom>
              <a:avLst/>
              <a:gdLst/>
              <a:ahLst/>
              <a:cxnLst/>
              <a:rect r="r" b="b" t="t" l="l"/>
              <a:pathLst>
                <a:path h="4556760" w="21893785">
                  <a:moveTo>
                    <a:pt x="0" y="371983"/>
                  </a:moveTo>
                  <a:cubicBezTo>
                    <a:pt x="0" y="166497"/>
                    <a:pt x="166497" y="0"/>
                    <a:pt x="371983" y="0"/>
                  </a:cubicBezTo>
                  <a:lnTo>
                    <a:pt x="21521801" y="0"/>
                  </a:lnTo>
                  <a:cubicBezTo>
                    <a:pt x="21727288" y="0"/>
                    <a:pt x="21893785" y="166497"/>
                    <a:pt x="21893785" y="371983"/>
                  </a:cubicBezTo>
                  <a:lnTo>
                    <a:pt x="21893785" y="4184777"/>
                  </a:lnTo>
                  <a:cubicBezTo>
                    <a:pt x="21893785" y="4390263"/>
                    <a:pt x="21727288" y="4556760"/>
                    <a:pt x="21521801" y="4556760"/>
                  </a:cubicBezTo>
                  <a:lnTo>
                    <a:pt x="371983" y="4556760"/>
                  </a:lnTo>
                  <a:cubicBezTo>
                    <a:pt x="166497" y="4556760"/>
                    <a:pt x="0" y="4390263"/>
                    <a:pt x="0" y="4184777"/>
                  </a:cubicBezTo>
                  <a:close/>
                </a:path>
              </a:pathLst>
            </a:custGeom>
            <a:solidFill>
              <a:srgbClr val="2C1B63"/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893784" cy="4623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B3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Түсіндірме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Оқушы алдымен жеке ойланады, жұпта талқылайды, соңында сыныппен бөліседі. Оқу өзара әрекеттестік арқылы жүреді.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76797" y="8475345"/>
            <a:ext cx="5543550" cy="1223010"/>
            <a:chOff x="0" y="0"/>
            <a:chExt cx="7391400" cy="1630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91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39140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911721" y="0"/>
                  </a:lnTo>
                  <a:cubicBezTo>
                    <a:pt x="7176643" y="0"/>
                    <a:pt x="7391400" y="214757"/>
                    <a:pt x="7391400" y="479679"/>
                  </a:cubicBezTo>
                  <a:lnTo>
                    <a:pt x="7391400" y="1151001"/>
                  </a:lnTo>
                  <a:cubicBezTo>
                    <a:pt x="7391400" y="1415923"/>
                    <a:pt x="7176643" y="1630680"/>
                    <a:pt x="691172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7391400" cy="171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Финишке!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3" id="3" descr="Салют анимациясы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1" t="0" r="1" b="0"/>
          <a:stretch>
            <a:fillRect/>
          </a:stretch>
        </p:blipFill>
        <p:spPr>
          <a:xfrm flipH="false" flipV="false" rot="0">
            <a:off x="0" y="0"/>
            <a:ext cx="18287543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8092440" y="960120"/>
            <a:ext cx="2057400" cy="2057400"/>
            <a:chOff x="0" y="0"/>
            <a:chExt cx="2743200" cy="2743200"/>
          </a:xfrm>
        </p:grpSpPr>
        <p:sp>
          <p:nvSpPr>
            <p:cNvPr name="Freeform 5" id="5" descr="Кубок"/>
            <p:cNvSpPr/>
            <p:nvPr/>
          </p:nvSpPr>
          <p:spPr>
            <a:xfrm flipH="false" flipV="false" rot="0">
              <a:off x="0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16" t="0" r="-41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65985" y="3057525"/>
            <a:ext cx="13951458" cy="3829050"/>
            <a:chOff x="0" y="0"/>
            <a:chExt cx="18601944" cy="5105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01944" cy="5105400"/>
            </a:xfrm>
            <a:custGeom>
              <a:avLst/>
              <a:gdLst/>
              <a:ahLst/>
              <a:cxnLst/>
              <a:rect r="r" b="b" t="t" l="l"/>
              <a:pathLst>
                <a:path h="5105400" w="18601944">
                  <a:moveTo>
                    <a:pt x="0" y="556895"/>
                  </a:moveTo>
                  <a:cubicBezTo>
                    <a:pt x="0" y="249301"/>
                    <a:pt x="249301" y="0"/>
                    <a:pt x="556895" y="0"/>
                  </a:cubicBezTo>
                  <a:lnTo>
                    <a:pt x="18045049" y="0"/>
                  </a:lnTo>
                  <a:cubicBezTo>
                    <a:pt x="18352643" y="0"/>
                    <a:pt x="18601944" y="249301"/>
                    <a:pt x="18601944" y="556895"/>
                  </a:cubicBezTo>
                  <a:lnTo>
                    <a:pt x="18601944" y="4548505"/>
                  </a:lnTo>
                  <a:cubicBezTo>
                    <a:pt x="18601944" y="4856099"/>
                    <a:pt x="18352643" y="5105400"/>
                    <a:pt x="18045049" y="5105400"/>
                  </a:cubicBezTo>
                  <a:lnTo>
                    <a:pt x="556895" y="5105400"/>
                  </a:lnTo>
                  <a:cubicBezTo>
                    <a:pt x="249301" y="5105400"/>
                    <a:pt x="0" y="4856099"/>
                    <a:pt x="0" y="4548505"/>
                  </a:cubicBezTo>
                  <a:close/>
                </a:path>
              </a:pathLst>
            </a:custGeom>
            <a:solidFill>
              <a:srgbClr val="0B0F2A">
                <a:alpha val="48627"/>
              </a:srgbClr>
            </a:solidFill>
            <a:ln w="571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71600" y="3017520"/>
            <a:ext cx="15540228" cy="2194560"/>
            <a:chOff x="0" y="0"/>
            <a:chExt cx="20720304" cy="2926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03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7978" r="0" b="-879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0720304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B34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ФИНИШ!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71600" y="5349240"/>
            <a:ext cx="15540228" cy="1097280"/>
            <a:chOff x="0" y="0"/>
            <a:chExt cx="20720304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03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956" r="0" b="-2259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0720304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Құттықтаймыз! Сен барлық 10 жолдан өттің!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88820" y="8915400"/>
            <a:ext cx="6858000" cy="685800"/>
            <a:chOff x="0" y="0"/>
            <a:chExt cx="9144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1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Салют дауысы: белгішені басыңыз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15825" y="8612505"/>
            <a:ext cx="5269230" cy="1223010"/>
            <a:chOff x="0" y="0"/>
            <a:chExt cx="7025640" cy="1630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25640" cy="1630680"/>
            </a:xfrm>
            <a:custGeom>
              <a:avLst/>
              <a:gdLst/>
              <a:ahLst/>
              <a:cxnLst/>
              <a:rect r="r" b="b" t="t" l="l"/>
              <a:pathLst>
                <a:path h="1630680" w="7025640">
                  <a:moveTo>
                    <a:pt x="0" y="479679"/>
                  </a:moveTo>
                  <a:cubicBezTo>
                    <a:pt x="0" y="214757"/>
                    <a:pt x="214757" y="0"/>
                    <a:pt x="479679" y="0"/>
                  </a:cubicBezTo>
                  <a:lnTo>
                    <a:pt x="6545961" y="0"/>
                  </a:lnTo>
                  <a:cubicBezTo>
                    <a:pt x="6810883" y="0"/>
                    <a:pt x="7025640" y="214757"/>
                    <a:pt x="7025640" y="479679"/>
                  </a:cubicBezTo>
                  <a:lnTo>
                    <a:pt x="7025640" y="1151001"/>
                  </a:lnTo>
                  <a:cubicBezTo>
                    <a:pt x="7025640" y="1415923"/>
                    <a:pt x="6810883" y="1630680"/>
                    <a:pt x="6545961" y="1630680"/>
                  </a:cubicBezTo>
                  <a:lnTo>
                    <a:pt x="479679" y="1630680"/>
                  </a:lnTo>
                  <a:cubicBezTo>
                    <a:pt x="214757" y="1630680"/>
                    <a:pt x="0" y="1415923"/>
                    <a:pt x="0" y="1151001"/>
                  </a:cubicBezTo>
                  <a:close/>
                </a:path>
              </a:pathLst>
            </a:custGeom>
            <a:solidFill>
              <a:srgbClr val="FFB347"/>
            </a:solidFill>
            <a:ln w="57150" cap="sq">
              <a:solidFill>
                <a:srgbClr val="E891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7025640" cy="1706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2C1B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Қайта ойнау</a:t>
              </a: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DAHXxoRUiUE</dc:identifier>
  <dcterms:modified xsi:type="dcterms:W3CDTF">2011-08-01T06:04:30Z</dcterms:modified>
  <cp:revision>1</cp:revision>
  <dc:title>Oqytu-adisteri-oyyn.pptx</dc:title>
</cp:coreProperties>
</file>